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6" r:id="rId6"/>
    <p:sldId id="267" r:id="rId7"/>
    <p:sldId id="271" r:id="rId8"/>
    <p:sldId id="272"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476" y="4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C96ADFAD-319A-4D74-B36D-6F4348ED898A}" type="datetimeFigureOut">
              <a:rPr lang="zh-CN" altLang="en-US" smtClean="0"/>
              <a:t>2025-08-26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1118728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96ADFAD-319A-4D74-B36D-6F4348ED898A}" type="datetimeFigureOut">
              <a:rPr lang="zh-CN" altLang="en-US" smtClean="0"/>
              <a:t>2025-08-26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2429443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C96ADFAD-319A-4D74-B36D-6F4348ED898A}" type="datetimeFigureOut">
              <a:rPr lang="zh-CN" altLang="en-US" smtClean="0"/>
              <a:t>2025-08-26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1914597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96ADFAD-319A-4D74-B36D-6F4348ED898A}" type="datetimeFigureOut">
              <a:rPr lang="zh-CN" altLang="en-US" smtClean="0"/>
              <a:t>2025-08-26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915125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96ADFAD-319A-4D74-B36D-6F4348ED898A}" type="datetimeFigureOut">
              <a:rPr lang="zh-CN" altLang="en-US" smtClean="0"/>
              <a:t>2025-08-26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693112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96ADFAD-319A-4D74-B36D-6F4348ED898A}" type="datetimeFigureOut">
              <a:rPr lang="zh-CN" altLang="en-US" smtClean="0"/>
              <a:t>2025-08-26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1460089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96ADFAD-319A-4D74-B36D-6F4348ED898A}" type="datetimeFigureOut">
              <a:rPr lang="zh-CN" altLang="en-US" smtClean="0"/>
              <a:t>2025-08-26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3745734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C96ADFAD-319A-4D74-B36D-6F4348ED898A}" type="datetimeFigureOut">
              <a:rPr lang="zh-CN" altLang="en-US" smtClean="0"/>
              <a:t>2025-08-26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2808998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C96ADFAD-319A-4D74-B36D-6F4348ED898A}" type="datetimeFigureOut">
              <a:rPr lang="zh-CN" altLang="en-US" smtClean="0"/>
              <a:t>2025-08-26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2749752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96ADFAD-319A-4D74-B36D-6F4348ED898A}" type="datetimeFigureOut">
              <a:rPr lang="zh-CN" altLang="en-US" smtClean="0"/>
              <a:t>2025-08-26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119666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96ADFAD-319A-4D74-B36D-6F4348ED898A}" type="datetimeFigureOut">
              <a:rPr lang="zh-CN" altLang="en-US" smtClean="0"/>
              <a:t>2025-08-26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179605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6ADFAD-319A-4D74-B36D-6F4348ED898A}" type="datetimeFigureOut">
              <a:rPr lang="zh-CN" altLang="en-US" smtClean="0"/>
              <a:t>2025-08-26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84FFF0-F5AB-4E12-AC4E-89C84823CB7A}" type="slidenum">
              <a:rPr lang="zh-CN" altLang="en-US" smtClean="0"/>
              <a:t>‹#›</a:t>
            </a:fld>
            <a:endParaRPr lang="zh-CN" altLang="en-US"/>
          </a:p>
        </p:txBody>
      </p:sp>
    </p:spTree>
    <p:extLst>
      <p:ext uri="{BB962C8B-B14F-4D97-AF65-F5344CB8AC3E}">
        <p14:creationId xmlns:p14="http://schemas.microsoft.com/office/powerpoint/2010/main" val="26936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1080944"/>
            <a:ext cx="7558252" cy="4893647"/>
          </a:xfrm>
          <a:prstGeom prst="rect">
            <a:avLst/>
          </a:prstGeom>
          <a:noFill/>
        </p:spPr>
        <p:txBody>
          <a:bodyPr wrap="square" rtlCol="0">
            <a:spAutoFit/>
          </a:bodyPr>
          <a:lstStyle/>
          <a:p>
            <a:pPr algn="ctr">
              <a:lnSpc>
                <a:spcPct val="150000"/>
              </a:lnSpc>
            </a:pPr>
            <a:r>
              <a:rPr lang="zh-CN" altLang="en-US" sz="4800" dirty="0" smtClean="0">
                <a:latin typeface="Times New Roman" panose="02020603050405020304" pitchFamily="18" charset="0"/>
                <a:cs typeface="Times New Roman" panose="02020603050405020304" pitchFamily="18" charset="0"/>
              </a:rPr>
              <a:t>文献带读系列</a:t>
            </a:r>
            <a:endParaRPr lang="en-US" altLang="zh-CN" sz="4800" dirty="0" smtClean="0">
              <a:latin typeface="Times New Roman" panose="02020603050405020304" pitchFamily="18" charset="0"/>
              <a:cs typeface="Times New Roman" panose="02020603050405020304" pitchFamily="18" charset="0"/>
            </a:endParaRPr>
          </a:p>
          <a:p>
            <a:pPr algn="ctr">
              <a:lnSpc>
                <a:spcPct val="150000"/>
              </a:lnSpc>
            </a:pPr>
            <a:r>
              <a:rPr lang="en-US" altLang="zh-CN" sz="3200" dirty="0" smtClean="0">
                <a:latin typeface="Times New Roman" panose="02020603050405020304" pitchFamily="18" charset="0"/>
                <a:cs typeface="Times New Roman" panose="02020603050405020304" pitchFamily="18" charset="0"/>
              </a:rPr>
              <a:t>1</a:t>
            </a:r>
            <a:r>
              <a:rPr lang="zh-CN" altLang="en-US" sz="3200" dirty="0" smtClean="0">
                <a:latin typeface="Times New Roman" panose="02020603050405020304" pitchFamily="18" charset="0"/>
                <a:cs typeface="Times New Roman" panose="02020603050405020304" pitchFamily="18" charset="0"/>
              </a:rPr>
              <a:t>、摘要写作逐句拆解</a:t>
            </a:r>
            <a:endParaRPr lang="en-US" altLang="zh-CN" sz="3200" dirty="0" smtClean="0">
              <a:latin typeface="Times New Roman" panose="02020603050405020304" pitchFamily="18" charset="0"/>
              <a:cs typeface="Times New Roman" panose="02020603050405020304" pitchFamily="18" charset="0"/>
            </a:endParaRPr>
          </a:p>
          <a:p>
            <a:pPr algn="ctr">
              <a:lnSpc>
                <a:spcPct val="150000"/>
              </a:lnSpc>
            </a:pPr>
            <a:r>
              <a:rPr lang="en-US" altLang="zh-CN" sz="3200" dirty="0" smtClean="0">
                <a:latin typeface="Times New Roman" panose="02020603050405020304" pitchFamily="18" charset="0"/>
                <a:cs typeface="Times New Roman" panose="02020603050405020304" pitchFamily="18" charset="0"/>
              </a:rPr>
              <a:t>2</a:t>
            </a:r>
            <a:r>
              <a:rPr lang="zh-CN" altLang="en-US" sz="3200" dirty="0" smtClean="0">
                <a:latin typeface="Times New Roman" panose="02020603050405020304" pitchFamily="18" charset="0"/>
                <a:cs typeface="Times New Roman" panose="02020603050405020304" pitchFamily="18" charset="0"/>
              </a:rPr>
              <a:t>、小白写作错误分析</a:t>
            </a:r>
            <a:endParaRPr lang="en-US" altLang="zh-CN" sz="3200" dirty="0" smtClean="0">
              <a:latin typeface="Times New Roman" panose="02020603050405020304" pitchFamily="18" charset="0"/>
              <a:cs typeface="Times New Roman" panose="02020603050405020304" pitchFamily="18" charset="0"/>
            </a:endParaRPr>
          </a:p>
          <a:p>
            <a:pPr algn="ctr">
              <a:lnSpc>
                <a:spcPct val="150000"/>
              </a:lnSpc>
            </a:pPr>
            <a:r>
              <a:rPr lang="en-US" altLang="zh-CN" sz="3200" dirty="0" smtClean="0">
                <a:latin typeface="Times New Roman" panose="02020603050405020304" pitchFamily="18" charset="0"/>
                <a:cs typeface="Times New Roman" panose="02020603050405020304" pitchFamily="18" charset="0"/>
              </a:rPr>
              <a:t>3</a:t>
            </a:r>
            <a:r>
              <a:rPr lang="zh-CN" altLang="en-US" sz="3200" dirty="0" smtClean="0">
                <a:latin typeface="Times New Roman" panose="02020603050405020304" pitchFamily="18" charset="0"/>
                <a:cs typeface="Times New Roman" panose="02020603050405020304" pitchFamily="18" charset="0"/>
              </a:rPr>
              <a:t>、</a:t>
            </a:r>
            <a:r>
              <a:rPr lang="en-US" altLang="zh-CN" sz="3200" dirty="0" smtClean="0">
                <a:latin typeface="Times New Roman" panose="02020603050405020304" pitchFamily="18" charset="0"/>
                <a:cs typeface="Times New Roman" panose="02020603050405020304" pitchFamily="18" charset="0"/>
              </a:rPr>
              <a:t>AI</a:t>
            </a:r>
            <a:r>
              <a:rPr lang="zh-CN" altLang="en-US" sz="3200" dirty="0" smtClean="0">
                <a:latin typeface="Times New Roman" panose="02020603050405020304" pitchFamily="18" charset="0"/>
                <a:cs typeface="Times New Roman" panose="02020603050405020304" pitchFamily="18" charset="0"/>
              </a:rPr>
              <a:t>提示词设计分享</a:t>
            </a:r>
            <a:endParaRPr lang="en-US" altLang="zh-CN" sz="3200" dirty="0" smtClean="0">
              <a:latin typeface="Times New Roman" panose="02020603050405020304" pitchFamily="18" charset="0"/>
              <a:cs typeface="Times New Roman" panose="02020603050405020304" pitchFamily="18" charset="0"/>
            </a:endParaRPr>
          </a:p>
          <a:p>
            <a:pPr algn="ctr">
              <a:lnSpc>
                <a:spcPct val="150000"/>
              </a:lnSpc>
            </a:pPr>
            <a:r>
              <a:rPr lang="zh-CN" altLang="en-US" sz="3200" dirty="0" smtClean="0">
                <a:latin typeface="Times New Roman" panose="02020603050405020304" pitchFamily="18" charset="0"/>
                <a:cs typeface="Times New Roman" panose="02020603050405020304" pitchFamily="18" charset="0"/>
              </a:rPr>
              <a:t>目的：找一些好的论文，给大家拆解，让大家快速上手写论文。</a:t>
            </a:r>
            <a:endParaRPr lang="zh-CN" altLang="en-US" sz="3200"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7805902" y="1425396"/>
            <a:ext cx="3762900" cy="3810532"/>
          </a:xfrm>
          <a:prstGeom prst="rect">
            <a:avLst/>
          </a:prstGeom>
        </p:spPr>
      </p:pic>
    </p:spTree>
    <p:extLst>
      <p:ext uri="{BB962C8B-B14F-4D97-AF65-F5344CB8AC3E}">
        <p14:creationId xmlns:p14="http://schemas.microsoft.com/office/powerpoint/2010/main" val="332358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409444" y="552774"/>
            <a:ext cx="7735380" cy="1467055"/>
          </a:xfrm>
          <a:prstGeom prst="rect">
            <a:avLst/>
          </a:prstGeom>
        </p:spPr>
      </p:pic>
      <p:pic>
        <p:nvPicPr>
          <p:cNvPr id="6" name="图片 5"/>
          <p:cNvPicPr>
            <a:picLocks noChangeAspect="1"/>
          </p:cNvPicPr>
          <p:nvPr/>
        </p:nvPicPr>
        <p:blipFill>
          <a:blip r:embed="rId3"/>
          <a:stretch>
            <a:fillRect/>
          </a:stretch>
        </p:blipFill>
        <p:spPr>
          <a:xfrm>
            <a:off x="2181076" y="2436038"/>
            <a:ext cx="6781641" cy="3609920"/>
          </a:xfrm>
          <a:prstGeom prst="rect">
            <a:avLst/>
          </a:prstGeom>
        </p:spPr>
      </p:pic>
    </p:spTree>
    <p:extLst>
      <p:ext uri="{BB962C8B-B14F-4D97-AF65-F5344CB8AC3E}">
        <p14:creationId xmlns:p14="http://schemas.microsoft.com/office/powerpoint/2010/main" val="124423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0464" y="551650"/>
            <a:ext cx="10927309" cy="5632311"/>
          </a:xfrm>
          <a:prstGeom prst="rect">
            <a:avLst/>
          </a:prstGeom>
        </p:spPr>
        <p:txBody>
          <a:bodyPr wrap="square">
            <a:spAutoFit/>
          </a:bodyPr>
          <a:lstStyle/>
          <a:p>
            <a:pPr indent="457200" fontAlgn="base"/>
            <a:r>
              <a:rPr lang="zh-CN" altLang="en-US" sz="2400" dirty="0" smtClean="0">
                <a:solidFill>
                  <a:srgbClr val="FF0000"/>
                </a:solidFill>
                <a:latin typeface="Times New Roman" panose="02020603050405020304" pitchFamily="18" charset="0"/>
                <a:cs typeface="Times New Roman" panose="02020603050405020304" pitchFamily="18" charset="0"/>
              </a:rPr>
              <a:t>段落框架分析</a:t>
            </a:r>
            <a:endParaRPr lang="en-US" altLang="zh-CN" sz="2400" dirty="0" smtClean="0">
              <a:solidFill>
                <a:srgbClr val="FF0000"/>
              </a:solidFill>
              <a:latin typeface="Times New Roman" panose="02020603050405020304" pitchFamily="18" charset="0"/>
              <a:cs typeface="Times New Roman" panose="02020603050405020304" pitchFamily="18" charset="0"/>
            </a:endParaRPr>
          </a:p>
          <a:p>
            <a:pPr indent="457200" fontAlgn="base"/>
            <a:r>
              <a:rPr lang="zh-CN" altLang="en-US" sz="2400" dirty="0" smtClean="0">
                <a:latin typeface="Times New Roman" panose="02020603050405020304" pitchFamily="18" charset="0"/>
                <a:cs typeface="Times New Roman" panose="02020603050405020304" pitchFamily="18" charset="0"/>
              </a:rPr>
              <a:t>摘要：城市排水系统的容量会显著影响城市汇水区的洪涝特性。这促使大量研究采用多目标进化算法（</a:t>
            </a:r>
            <a:r>
              <a:rPr lang="en-US" altLang="zh-CN" sz="2400" dirty="0" smtClean="0">
                <a:latin typeface="Times New Roman" panose="02020603050405020304" pitchFamily="18" charset="0"/>
                <a:cs typeface="Times New Roman" panose="02020603050405020304" pitchFamily="18" charset="0"/>
              </a:rPr>
              <a:t>MOEAs</a:t>
            </a:r>
            <a:r>
              <a:rPr lang="zh-CN" altLang="en-US" sz="2400" dirty="0" smtClean="0">
                <a:latin typeface="Times New Roman" panose="02020603050405020304" pitchFamily="18" charset="0"/>
                <a:cs typeface="Times New Roman" panose="02020603050405020304" pitchFamily="18" charset="0"/>
              </a:rPr>
              <a:t>）来优化设计城市排水系统，以便在成本与系统可靠性等相互冲突的目标之间探索权衡（</a:t>
            </a:r>
            <a:r>
              <a:rPr lang="zh-CN" altLang="en-US" sz="2400" dirty="0" smtClean="0">
                <a:solidFill>
                  <a:srgbClr val="FF0000"/>
                </a:solidFill>
                <a:latin typeface="Times New Roman" panose="02020603050405020304" pitchFamily="18" charset="0"/>
                <a:cs typeface="Times New Roman" panose="02020603050405020304" pitchFamily="18" charset="0"/>
              </a:rPr>
              <a:t>背景</a:t>
            </a:r>
            <a:r>
              <a:rPr lang="zh-CN" altLang="en-US" sz="2400" dirty="0" smtClean="0">
                <a:latin typeface="Times New Roman" panose="02020603050405020304" pitchFamily="18" charset="0"/>
                <a:cs typeface="Times New Roman" panose="02020603050405020304" pitchFamily="18" charset="0"/>
              </a:rPr>
              <a:t>）。</a:t>
            </a:r>
            <a:r>
              <a:rPr lang="zh-CN" altLang="en-US" sz="2400" dirty="0" smtClean="0">
                <a:solidFill>
                  <a:srgbClr val="FF0000"/>
                </a:solidFill>
                <a:latin typeface="Times New Roman" panose="02020603050405020304" pitchFamily="18" charset="0"/>
                <a:cs typeface="Times New Roman" panose="02020603050405020304" pitchFamily="18" charset="0"/>
              </a:rPr>
              <a:t>然而</a:t>
            </a:r>
            <a:r>
              <a:rPr lang="zh-CN" altLang="en-US" sz="2400" dirty="0" smtClean="0">
                <a:latin typeface="Times New Roman" panose="02020603050405020304" pitchFamily="18" charset="0"/>
                <a:cs typeface="Times New Roman" panose="02020603050405020304" pitchFamily="18" charset="0"/>
              </a:rPr>
              <a:t>（</a:t>
            </a:r>
            <a:r>
              <a:rPr lang="zh-CN" altLang="en-US" sz="2400" dirty="0" smtClean="0">
                <a:solidFill>
                  <a:srgbClr val="FF0000"/>
                </a:solidFill>
                <a:latin typeface="Times New Roman" panose="02020603050405020304" pitchFamily="18" charset="0"/>
                <a:cs typeface="Times New Roman" panose="02020603050405020304" pitchFamily="18" charset="0"/>
              </a:rPr>
              <a:t>冲突</a:t>
            </a:r>
            <a:r>
              <a:rPr lang="en-US" altLang="zh-CN" sz="2400" dirty="0" smtClean="0">
                <a:solidFill>
                  <a:srgbClr val="FF0000"/>
                </a:solidFill>
                <a:latin typeface="Times New Roman" panose="02020603050405020304" pitchFamily="18" charset="0"/>
                <a:cs typeface="Times New Roman" panose="02020603050405020304" pitchFamily="18" charset="0"/>
              </a:rPr>
              <a:t>-</a:t>
            </a:r>
            <a:r>
              <a:rPr lang="zh-CN" altLang="en-US" sz="2400" dirty="0" smtClean="0">
                <a:solidFill>
                  <a:srgbClr val="FF0000"/>
                </a:solidFill>
                <a:latin typeface="Times New Roman" panose="02020603050405020304" pitchFamily="18" charset="0"/>
                <a:cs typeface="Times New Roman" panose="02020603050405020304" pitchFamily="18" charset="0"/>
              </a:rPr>
              <a:t>转折</a:t>
            </a:r>
            <a:r>
              <a:rPr lang="zh-CN" altLang="en-US" sz="2400" dirty="0" smtClean="0">
                <a:latin typeface="Times New Roman" panose="02020603050405020304" pitchFamily="18" charset="0"/>
                <a:cs typeface="Times New Roman" panose="02020603050405020304" pitchFamily="18" charset="0"/>
              </a:rPr>
              <a:t>） </a:t>
            </a:r>
            <a:r>
              <a:rPr lang="zh-CN" altLang="en-US" sz="2400" dirty="0" smtClean="0">
                <a:latin typeface="Times New Roman" panose="02020603050405020304" pitchFamily="18" charset="0"/>
                <a:cs typeface="Times New Roman" panose="02020603050405020304" pitchFamily="18" charset="0"/>
              </a:rPr>
              <a:t>，基于 </a:t>
            </a:r>
            <a:r>
              <a:rPr lang="en-US" altLang="zh-CN" sz="2400" dirty="0" smtClean="0">
                <a:latin typeface="Times New Roman" panose="02020603050405020304" pitchFamily="18" charset="0"/>
                <a:cs typeface="Times New Roman" panose="02020603050405020304" pitchFamily="18" charset="0"/>
              </a:rPr>
              <a:t>MOEA </a:t>
            </a:r>
            <a:r>
              <a:rPr lang="zh-CN" altLang="en-US" sz="2400" dirty="0" smtClean="0">
                <a:latin typeface="Times New Roman" panose="02020603050405020304" pitchFamily="18" charset="0"/>
                <a:cs typeface="Times New Roman" panose="02020603050405020304" pitchFamily="18" charset="0"/>
              </a:rPr>
              <a:t>的方法通常计算成本高昂，且由于工程领域知识未被显式纳入，所得方案往往难以在实践中被接受。为此（</a:t>
            </a:r>
            <a:r>
              <a:rPr lang="zh-CN" altLang="en-US" sz="2400" dirty="0" smtClean="0">
                <a:solidFill>
                  <a:srgbClr val="FF0000"/>
                </a:solidFill>
                <a:latin typeface="Times New Roman" panose="02020603050405020304" pitchFamily="18" charset="0"/>
                <a:cs typeface="Times New Roman" panose="02020603050405020304" pitchFamily="18" charset="0"/>
              </a:rPr>
              <a:t>解答</a:t>
            </a:r>
            <a:r>
              <a:rPr lang="zh-CN" altLang="en-US" sz="2400" dirty="0" smtClean="0">
                <a:latin typeface="Times New Roman" panose="02020603050405020304" pitchFamily="18" charset="0"/>
                <a:cs typeface="Times New Roman" panose="02020603050405020304" pitchFamily="18" charset="0"/>
              </a:rPr>
              <a:t>），本文提出一种高效的城市排水系统优化框架，其中开发了一种基于工程经验的设计方法（</a:t>
            </a:r>
            <a:r>
              <a:rPr lang="en-US" altLang="zh-CN" sz="2400" dirty="0" smtClean="0">
                <a:latin typeface="Times New Roman" panose="02020603050405020304" pitchFamily="18" charset="0"/>
                <a:cs typeface="Times New Roman" panose="02020603050405020304" pitchFamily="18" charset="0"/>
              </a:rPr>
              <a:t>EBDM</a:t>
            </a:r>
            <a:r>
              <a:rPr lang="zh-CN" altLang="en-US" sz="2400" dirty="0" smtClean="0">
                <a:latin typeface="Times New Roman" panose="02020603050405020304" pitchFamily="18" charset="0"/>
                <a:cs typeface="Times New Roman" panose="02020603050405020304" pitchFamily="18" charset="0"/>
              </a:rPr>
              <a:t>），用于生成近似初始解以启动 </a:t>
            </a:r>
            <a:r>
              <a:rPr lang="en-US" altLang="zh-CN" sz="2400" dirty="0" smtClean="0">
                <a:latin typeface="Times New Roman" panose="02020603050405020304" pitchFamily="18" charset="0"/>
                <a:cs typeface="Times New Roman" panose="02020603050405020304" pitchFamily="18" charset="0"/>
              </a:rPr>
              <a:t>MOEA </a:t>
            </a:r>
            <a:r>
              <a:rPr lang="zh-CN" altLang="en-US" sz="2400" dirty="0" smtClean="0">
                <a:latin typeface="Times New Roman" panose="02020603050405020304" pitchFamily="18" charset="0"/>
                <a:cs typeface="Times New Roman" panose="02020603050405020304" pitchFamily="18" charset="0"/>
              </a:rPr>
              <a:t>搜索，从而大幅提升优化效率。为进一步提升方案的可实施性，所提出的优化方法（</a:t>
            </a:r>
            <a:r>
              <a:rPr lang="en-US" altLang="zh-CN" sz="2400" dirty="0" smtClean="0">
                <a:latin typeface="Times New Roman" panose="02020603050405020304" pitchFamily="18" charset="0"/>
                <a:cs typeface="Times New Roman" panose="02020603050405020304" pitchFamily="18" charset="0"/>
              </a:rPr>
              <a:t>PM</a:t>
            </a:r>
            <a:r>
              <a:rPr lang="zh-CN" altLang="en-US" sz="2400" dirty="0" smtClean="0">
                <a:latin typeface="Times New Roman" panose="02020603050405020304" pitchFamily="18" charset="0"/>
                <a:cs typeface="Times New Roman" panose="02020603050405020304" pitchFamily="18" charset="0"/>
              </a:rPr>
              <a:t>）实施了两项创新：最小化各管道峰值水深的变异度；引入约束，确保下游方向管道的尺寸不小于对应上游管径。采用两个不同规模的真实城市排水系统案例来验证 </a:t>
            </a:r>
            <a:r>
              <a:rPr lang="en-US" altLang="zh-CN" sz="2400" dirty="0" smtClean="0">
                <a:latin typeface="Times New Roman" panose="02020603050405020304" pitchFamily="18" charset="0"/>
                <a:cs typeface="Times New Roman" panose="02020603050405020304" pitchFamily="18" charset="0"/>
              </a:rPr>
              <a:t>PM </a:t>
            </a:r>
            <a:r>
              <a:rPr lang="zh-CN" altLang="en-US" sz="2400" dirty="0" smtClean="0">
                <a:latin typeface="Times New Roman" panose="02020603050405020304" pitchFamily="18" charset="0"/>
                <a:cs typeface="Times New Roman" panose="02020603050405020304" pitchFamily="18" charset="0"/>
              </a:rPr>
              <a:t>的有效性。结果表明：提出的 </a:t>
            </a:r>
            <a:r>
              <a:rPr lang="en-US" altLang="zh-CN" sz="2400" dirty="0" smtClean="0">
                <a:latin typeface="Times New Roman" panose="02020603050405020304" pitchFamily="18" charset="0"/>
                <a:cs typeface="Times New Roman" panose="02020603050405020304" pitchFamily="18" charset="0"/>
              </a:rPr>
              <a:t>EBDM </a:t>
            </a:r>
            <a:r>
              <a:rPr lang="zh-CN" altLang="en-US" sz="2400" dirty="0" smtClean="0">
                <a:latin typeface="Times New Roman" panose="02020603050405020304" pitchFamily="18" charset="0"/>
                <a:cs typeface="Times New Roman" panose="02020603050405020304" pitchFamily="18" charset="0"/>
              </a:rPr>
              <a:t>能有效生成接近最终优化解的高质量初始方案；最小化管道峰值水深变异度在实践中具有重要意义，因为它能帮助识别对未来不确定性具有更强适应能力的方案；与传统优化方法相比，</a:t>
            </a:r>
            <a:r>
              <a:rPr lang="en-US" altLang="zh-CN" sz="2400" dirty="0" smtClean="0">
                <a:latin typeface="Times New Roman" panose="02020603050405020304" pitchFamily="18" charset="0"/>
                <a:cs typeface="Times New Roman" panose="02020603050405020304" pitchFamily="18" charset="0"/>
              </a:rPr>
              <a:t>PM </a:t>
            </a:r>
            <a:r>
              <a:rPr lang="zh-CN" altLang="en-US" sz="2400" dirty="0" smtClean="0">
                <a:latin typeface="Times New Roman" panose="02020603050405020304" pitchFamily="18" charset="0"/>
                <a:cs typeface="Times New Roman" panose="02020603050405020304" pitchFamily="18" charset="0"/>
              </a:rPr>
              <a:t>在优化效率与方案可实施性上均显著提升，且随着系统规模的增大，优势更为突出。</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84523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9361" y="117693"/>
            <a:ext cx="11809863" cy="6740307"/>
          </a:xfrm>
          <a:prstGeom prst="rect">
            <a:avLst/>
          </a:prstGeom>
        </p:spPr>
        <p:txBody>
          <a:bodyPr wrap="square">
            <a:spAutoFit/>
          </a:bodyPr>
          <a:lstStyle/>
          <a:p>
            <a:pPr indent="457200">
              <a:lnSpc>
                <a:spcPct val="150000"/>
              </a:lnSpc>
            </a:pPr>
            <a:r>
              <a:rPr lang="zh-CN" altLang="en-US" sz="2400" b="0" i="0" dirty="0" smtClean="0">
                <a:effectLst/>
                <a:latin typeface="Times New Roman" panose="02020603050405020304" pitchFamily="18" charset="0"/>
                <a:cs typeface="Times New Roman" panose="02020603050405020304" pitchFamily="18" charset="0"/>
              </a:rPr>
              <a:t>题目：提升多目标优化（</a:t>
            </a:r>
            <a:r>
              <a:rPr lang="zh-CN" altLang="en-US" sz="2400" b="0" i="0" dirty="0" smtClean="0">
                <a:solidFill>
                  <a:srgbClr val="FF0000"/>
                </a:solidFill>
                <a:effectLst/>
                <a:latin typeface="Times New Roman" panose="02020603050405020304" pitchFamily="18" charset="0"/>
                <a:cs typeface="Times New Roman" panose="02020603050405020304" pitchFamily="18" charset="0"/>
              </a:rPr>
              <a:t>方法</a:t>
            </a:r>
            <a:r>
              <a:rPr lang="zh-CN" altLang="en-US" sz="2400" b="0" i="0" dirty="0" smtClean="0">
                <a:effectLst/>
                <a:latin typeface="Times New Roman" panose="02020603050405020304" pitchFamily="18" charset="0"/>
                <a:cs typeface="Times New Roman" panose="02020603050405020304" pitchFamily="18" charset="0"/>
              </a:rPr>
              <a:t>）在城市排水系统设计（</a:t>
            </a:r>
            <a:r>
              <a:rPr lang="zh-CN" altLang="en-US" sz="2400" dirty="0">
                <a:solidFill>
                  <a:srgbClr val="FF0000"/>
                </a:solidFill>
                <a:latin typeface="Times New Roman" panose="02020603050405020304" pitchFamily="18" charset="0"/>
                <a:cs typeface="Times New Roman" panose="02020603050405020304" pitchFamily="18" charset="0"/>
              </a:rPr>
              <a:t>问题</a:t>
            </a:r>
            <a:r>
              <a:rPr lang="zh-CN" altLang="en-US" sz="2400" b="0" i="0" dirty="0" smtClean="0">
                <a:effectLst/>
                <a:latin typeface="Times New Roman" panose="02020603050405020304" pitchFamily="18" charset="0"/>
                <a:cs typeface="Times New Roman" panose="02020603050405020304" pitchFamily="18" charset="0"/>
              </a:rPr>
              <a:t>）中的有效性</a:t>
            </a:r>
            <a:endParaRPr lang="en-US" altLang="zh-CN" sz="2400" dirty="0">
              <a:latin typeface="Times New Roman" panose="02020603050405020304" pitchFamily="18" charset="0"/>
              <a:cs typeface="Times New Roman" panose="02020603050405020304" pitchFamily="18" charset="0"/>
            </a:endParaRPr>
          </a:p>
          <a:p>
            <a:pPr indent="457200">
              <a:lnSpc>
                <a:spcPct val="150000"/>
              </a:lnSpc>
            </a:pPr>
            <a:r>
              <a:rPr lang="en-US" altLang="zh-CN" sz="2400" b="0" i="0" dirty="0" smtClean="0">
                <a:solidFill>
                  <a:srgbClr val="FF0000"/>
                </a:solidFill>
                <a:effectLst/>
                <a:latin typeface="Times New Roman" panose="02020603050405020304" pitchFamily="18" charset="0"/>
                <a:cs typeface="Times New Roman" panose="02020603050405020304" pitchFamily="18" charset="0"/>
              </a:rPr>
              <a:t>1</a:t>
            </a:r>
            <a:r>
              <a:rPr lang="zh-CN" altLang="en-US" sz="2400" b="0" i="0" dirty="0" smtClean="0">
                <a:solidFill>
                  <a:srgbClr val="FF0000"/>
                </a:solidFill>
                <a:effectLst/>
                <a:latin typeface="Times New Roman" panose="02020603050405020304" pitchFamily="18" charset="0"/>
                <a:cs typeface="Times New Roman" panose="02020603050405020304" pitchFamily="18" charset="0"/>
              </a:rPr>
              <a:t>、</a:t>
            </a:r>
            <a:r>
              <a:rPr lang="zh-CN" altLang="en-US" sz="2400" b="0" i="0" dirty="0" smtClean="0">
                <a:effectLst/>
                <a:latin typeface="Times New Roman" panose="02020603050405020304" pitchFamily="18" charset="0"/>
                <a:cs typeface="Times New Roman" panose="02020603050405020304" pitchFamily="18" charset="0"/>
              </a:rPr>
              <a:t>城市排水系统的容量会显著影响城市汇水区的洪涝特性。</a:t>
            </a:r>
            <a:endParaRPr lang="en-US" altLang="zh-CN" sz="2400" dirty="0">
              <a:latin typeface="Times New Roman" panose="02020603050405020304" pitchFamily="18" charset="0"/>
              <a:cs typeface="Times New Roman" panose="02020603050405020304" pitchFamily="18" charset="0"/>
            </a:endParaRPr>
          </a:p>
          <a:p>
            <a:pPr indent="457200">
              <a:lnSpc>
                <a:spcPct val="150000"/>
              </a:lnSpc>
            </a:pPr>
            <a:r>
              <a:rPr lang="en-US" altLang="zh-CN" sz="2400" dirty="0" smtClean="0">
                <a:solidFill>
                  <a:srgbClr val="FF0000"/>
                </a:solidFill>
                <a:latin typeface="Times New Roman" panose="02020603050405020304" pitchFamily="18" charset="0"/>
                <a:cs typeface="Times New Roman" panose="02020603050405020304" pitchFamily="18" charset="0"/>
              </a:rPr>
              <a:t>2</a:t>
            </a:r>
            <a:r>
              <a:rPr lang="zh-CN" altLang="en-US" sz="2400" dirty="0" smtClean="0">
                <a:solidFill>
                  <a:srgbClr val="FF0000"/>
                </a:solidFill>
                <a:latin typeface="Times New Roman" panose="02020603050405020304" pitchFamily="18" charset="0"/>
                <a:cs typeface="Times New Roman" panose="02020603050405020304" pitchFamily="18" charset="0"/>
              </a:rPr>
              <a:t>、</a:t>
            </a:r>
            <a:r>
              <a:rPr lang="zh-CN" altLang="en-US" sz="2400" b="0" i="0" dirty="0" smtClean="0">
                <a:effectLst/>
                <a:latin typeface="Times New Roman" panose="02020603050405020304" pitchFamily="18" charset="0"/>
                <a:cs typeface="Times New Roman" panose="02020603050405020304" pitchFamily="18" charset="0"/>
              </a:rPr>
              <a:t>这促使大量研究采用多目标进化算法（</a:t>
            </a:r>
            <a:r>
              <a:rPr lang="en-US" altLang="zh-CN" sz="2400" b="0" i="0" dirty="0" smtClean="0">
                <a:effectLst/>
                <a:latin typeface="Times New Roman" panose="02020603050405020304" pitchFamily="18" charset="0"/>
                <a:cs typeface="Times New Roman" panose="02020603050405020304" pitchFamily="18" charset="0"/>
              </a:rPr>
              <a:t>MOEAs</a:t>
            </a:r>
            <a:r>
              <a:rPr lang="zh-CN" altLang="en-US" sz="2400" b="0" i="0" dirty="0" smtClean="0">
                <a:effectLst/>
                <a:latin typeface="Times New Roman" panose="02020603050405020304" pitchFamily="18" charset="0"/>
                <a:cs typeface="Times New Roman" panose="02020603050405020304" pitchFamily="18" charset="0"/>
              </a:rPr>
              <a:t>）来优化设计城市排水系统（</a:t>
            </a:r>
            <a:r>
              <a:rPr lang="en-US" altLang="zh-CN" sz="2400" b="0" i="0" dirty="0" smtClean="0">
                <a:effectLst/>
                <a:latin typeface="Times New Roman" panose="02020603050405020304" pitchFamily="18" charset="0"/>
                <a:cs typeface="Times New Roman" panose="02020603050405020304" pitchFamily="18" charset="0"/>
              </a:rPr>
              <a:t>UDSs</a:t>
            </a:r>
            <a:r>
              <a:rPr lang="zh-CN" altLang="en-US" sz="2400" b="0" i="0" dirty="0" smtClean="0">
                <a:effectLst/>
                <a:latin typeface="Times New Roman" panose="02020603050405020304" pitchFamily="18" charset="0"/>
                <a:cs typeface="Times New Roman" panose="02020603050405020304" pitchFamily="18" charset="0"/>
              </a:rPr>
              <a:t>），以便在相互冲突的目标（如成本 </a:t>
            </a:r>
            <a:r>
              <a:rPr lang="en-US" altLang="zh-CN" sz="2400" b="0" i="0" dirty="0" smtClean="0">
                <a:effectLst/>
                <a:latin typeface="Times New Roman" panose="02020603050405020304" pitchFamily="18" charset="0"/>
                <a:cs typeface="Times New Roman" panose="02020603050405020304" pitchFamily="18" charset="0"/>
              </a:rPr>
              <a:t>vs. </a:t>
            </a:r>
            <a:r>
              <a:rPr lang="zh-CN" altLang="en-US" sz="2400" b="0" i="0" dirty="0" smtClean="0">
                <a:effectLst/>
                <a:latin typeface="Times New Roman" panose="02020603050405020304" pitchFamily="18" charset="0"/>
                <a:cs typeface="Times New Roman" panose="02020603050405020304" pitchFamily="18" charset="0"/>
              </a:rPr>
              <a:t>系统可靠性）之间探索权衡。</a:t>
            </a:r>
            <a:endParaRPr lang="en-US" altLang="zh-CN" sz="2400" dirty="0">
              <a:latin typeface="Times New Roman" panose="02020603050405020304" pitchFamily="18" charset="0"/>
              <a:cs typeface="Times New Roman" panose="02020603050405020304" pitchFamily="18" charset="0"/>
            </a:endParaRPr>
          </a:p>
          <a:p>
            <a:pPr indent="457200">
              <a:lnSpc>
                <a:spcPct val="150000"/>
              </a:lnSpc>
            </a:pPr>
            <a:r>
              <a:rPr lang="zh-CN" altLang="en-US" sz="2400" dirty="0" smtClean="0">
                <a:solidFill>
                  <a:srgbClr val="FF0000"/>
                </a:solidFill>
                <a:latin typeface="Times New Roman" panose="02020603050405020304" pitchFamily="18" charset="0"/>
                <a:cs typeface="Times New Roman" panose="02020603050405020304" pitchFamily="18" charset="0"/>
              </a:rPr>
              <a:t>写作要点分析：</a:t>
            </a:r>
            <a:endParaRPr lang="en-US" altLang="zh-CN" sz="2400" dirty="0">
              <a:solidFill>
                <a:srgbClr val="FF0000"/>
              </a:solidFill>
              <a:latin typeface="Times New Roman" panose="02020603050405020304" pitchFamily="18" charset="0"/>
              <a:cs typeface="Times New Roman" panose="02020603050405020304" pitchFamily="18" charset="0"/>
            </a:endParaRPr>
          </a:p>
          <a:p>
            <a:pPr indent="457200">
              <a:lnSpc>
                <a:spcPct val="150000"/>
              </a:lnSpc>
            </a:pPr>
            <a:r>
              <a:rPr lang="zh-CN" altLang="en-US" sz="2400" dirty="0" smtClean="0">
                <a:latin typeface="Times New Roman" panose="02020603050405020304" pitchFamily="18" charset="0"/>
                <a:cs typeface="Times New Roman" panose="02020603050405020304" pitchFamily="18" charset="0"/>
              </a:rPr>
              <a:t>第</a:t>
            </a:r>
            <a:r>
              <a:rPr lang="en-US" altLang="zh-CN" sz="2400" dirty="0" smtClean="0">
                <a:latin typeface="Times New Roman" panose="02020603050405020304" pitchFamily="18" charset="0"/>
                <a:cs typeface="Times New Roman" panose="02020603050405020304" pitchFamily="18" charset="0"/>
              </a:rPr>
              <a:t>1</a:t>
            </a:r>
            <a:r>
              <a:rPr lang="zh-CN" altLang="en-US" sz="2400" dirty="0" smtClean="0">
                <a:latin typeface="Times New Roman" panose="02020603050405020304" pitchFamily="18" charset="0"/>
                <a:cs typeface="Times New Roman" panose="02020603050405020304" pitchFamily="18" charset="0"/>
              </a:rPr>
              <a:t>句话：问题背景阐明</a:t>
            </a:r>
            <a:endParaRPr lang="en-US" altLang="zh-CN" sz="2400" dirty="0">
              <a:latin typeface="Times New Roman" panose="02020603050405020304" pitchFamily="18" charset="0"/>
              <a:cs typeface="Times New Roman" panose="02020603050405020304" pitchFamily="18" charset="0"/>
            </a:endParaRPr>
          </a:p>
          <a:p>
            <a:pPr indent="457200">
              <a:lnSpc>
                <a:spcPct val="150000"/>
              </a:lnSpc>
            </a:pPr>
            <a:r>
              <a:rPr lang="zh-CN" altLang="en-US" sz="2400" dirty="0">
                <a:solidFill>
                  <a:srgbClr val="FF0000"/>
                </a:solidFill>
                <a:latin typeface="Times New Roman" panose="02020603050405020304" pitchFamily="18" charset="0"/>
                <a:cs typeface="Times New Roman" panose="02020603050405020304" pitchFamily="18" charset="0"/>
              </a:rPr>
              <a:t>小白错误</a:t>
            </a:r>
            <a:r>
              <a:rPr lang="zh-CN" altLang="en-US" sz="2400" dirty="0" smtClean="0">
                <a:solidFill>
                  <a:srgbClr val="FF0000"/>
                </a:solidFill>
                <a:latin typeface="Times New Roman" panose="02020603050405020304" pitchFamily="18" charset="0"/>
                <a:cs typeface="Times New Roman" panose="02020603050405020304" pitchFamily="18" charset="0"/>
              </a:rPr>
              <a:t>：</a:t>
            </a:r>
            <a:endParaRPr lang="en-US" altLang="zh-CN" sz="2400" dirty="0" smtClean="0">
              <a:solidFill>
                <a:srgbClr val="FF0000"/>
              </a:solidFill>
              <a:latin typeface="Times New Roman" panose="02020603050405020304" pitchFamily="18" charset="0"/>
              <a:cs typeface="Times New Roman" panose="02020603050405020304" pitchFamily="18" charset="0"/>
            </a:endParaRPr>
          </a:p>
          <a:p>
            <a:pPr indent="457200">
              <a:lnSpc>
                <a:spcPct val="150000"/>
              </a:lnSpc>
            </a:pPr>
            <a:r>
              <a:rPr lang="en-US" altLang="zh-CN" sz="2400" dirty="0" smtClean="0">
                <a:latin typeface="Times New Roman" panose="02020603050405020304" pitchFamily="18" charset="0"/>
                <a:cs typeface="Times New Roman" panose="02020603050405020304" pitchFamily="18" charset="0"/>
              </a:rPr>
              <a:t>1</a:t>
            </a:r>
            <a:r>
              <a:rPr lang="zh-CN" altLang="en-US" sz="2400" dirty="0" smtClean="0">
                <a:latin typeface="Times New Roman" panose="02020603050405020304" pitchFamily="18" charset="0"/>
                <a:cs typeface="Times New Roman" panose="02020603050405020304" pitchFamily="18" charset="0"/>
              </a:rPr>
              <a:t>）以方法作为切入；</a:t>
            </a:r>
            <a:r>
              <a:rPr lang="en-US" altLang="zh-CN" sz="2400" dirty="0" smtClean="0">
                <a:latin typeface="Times New Roman" panose="02020603050405020304" pitchFamily="18" charset="0"/>
                <a:cs typeface="Times New Roman" panose="02020603050405020304" pitchFamily="18" charset="0"/>
              </a:rPr>
              <a:t>2</a:t>
            </a:r>
            <a:r>
              <a:rPr lang="zh-CN" altLang="en-US" sz="2400" dirty="0" smtClean="0">
                <a:latin typeface="Times New Roman" panose="02020603050405020304" pitchFamily="18" charset="0"/>
                <a:cs typeface="Times New Roman" panose="02020603050405020304" pitchFamily="18" charset="0"/>
              </a:rPr>
              <a:t>）有争议的事实、观点；</a:t>
            </a:r>
            <a:endParaRPr lang="en-US" altLang="zh-CN" sz="2400" dirty="0">
              <a:latin typeface="Times New Roman" panose="02020603050405020304" pitchFamily="18" charset="0"/>
              <a:cs typeface="Times New Roman" panose="02020603050405020304" pitchFamily="18" charset="0"/>
            </a:endParaRPr>
          </a:p>
          <a:p>
            <a:pPr indent="457200">
              <a:lnSpc>
                <a:spcPct val="150000"/>
              </a:lnSpc>
            </a:pPr>
            <a:r>
              <a:rPr lang="zh-CN" altLang="en-US" sz="2400" dirty="0" smtClean="0">
                <a:latin typeface="Times New Roman" panose="02020603050405020304" pitchFamily="18" charset="0"/>
                <a:cs typeface="Times New Roman" panose="02020603050405020304" pitchFamily="18" charset="0"/>
              </a:rPr>
              <a:t>第</a:t>
            </a:r>
            <a:r>
              <a:rPr lang="en-US" altLang="zh-CN" sz="2400" dirty="0" smtClean="0">
                <a:latin typeface="Times New Roman" panose="02020603050405020304" pitchFamily="18" charset="0"/>
                <a:cs typeface="Times New Roman" panose="02020603050405020304" pitchFamily="18" charset="0"/>
              </a:rPr>
              <a:t>2</a:t>
            </a:r>
            <a:r>
              <a:rPr lang="zh-CN" altLang="en-US" sz="2400" dirty="0" smtClean="0">
                <a:latin typeface="Times New Roman" panose="02020603050405020304" pitchFamily="18" charset="0"/>
                <a:cs typeface="Times New Roman" panose="02020603050405020304" pitchFamily="18" charset="0"/>
              </a:rPr>
              <a:t>句话：传统</a:t>
            </a:r>
            <a:r>
              <a:rPr lang="zh-CN" altLang="en-US" sz="2400" dirty="0">
                <a:latin typeface="Times New Roman" panose="02020603050405020304" pitchFamily="18" charset="0"/>
                <a:cs typeface="Times New Roman" panose="02020603050405020304" pitchFamily="18" charset="0"/>
              </a:rPr>
              <a:t>方法及优点</a:t>
            </a:r>
            <a:r>
              <a:rPr lang="zh-CN" altLang="en-US" sz="2400" dirty="0" smtClean="0">
                <a:latin typeface="Times New Roman" panose="02020603050405020304" pitchFamily="18" charset="0"/>
                <a:cs typeface="Times New Roman" panose="02020603050405020304" pitchFamily="18" charset="0"/>
              </a:rPr>
              <a:t>说明；</a:t>
            </a:r>
            <a:endParaRPr lang="en-US" altLang="zh-CN" sz="2400" dirty="0">
              <a:latin typeface="Times New Roman" panose="02020603050405020304" pitchFamily="18" charset="0"/>
              <a:cs typeface="Times New Roman" panose="02020603050405020304" pitchFamily="18" charset="0"/>
            </a:endParaRPr>
          </a:p>
          <a:p>
            <a:pPr indent="457200">
              <a:lnSpc>
                <a:spcPct val="150000"/>
              </a:lnSpc>
            </a:pPr>
            <a:r>
              <a:rPr lang="zh-CN" altLang="en-US" sz="2400" dirty="0" smtClean="0">
                <a:latin typeface="Times New Roman" panose="02020603050405020304" pitchFamily="18" charset="0"/>
                <a:cs typeface="Times New Roman" panose="02020603050405020304" pitchFamily="18" charset="0"/>
              </a:rPr>
              <a:t>小白错误：铺垫过多，没有说明传统方法优点</a:t>
            </a:r>
            <a:endParaRPr lang="en-US" altLang="zh-CN" sz="2400" dirty="0">
              <a:latin typeface="Times New Roman" panose="02020603050405020304" pitchFamily="18" charset="0"/>
              <a:cs typeface="Times New Roman" panose="02020603050405020304" pitchFamily="18" charset="0"/>
            </a:endParaRPr>
          </a:p>
          <a:p>
            <a:pPr indent="457200">
              <a:lnSpc>
                <a:spcPct val="150000"/>
              </a:lnSpc>
            </a:pPr>
            <a:r>
              <a:rPr lang="zh-CN" altLang="en-US" sz="2400" dirty="0" smtClean="0">
                <a:latin typeface="Times New Roman" panose="02020603050405020304" pitchFamily="18" charset="0"/>
                <a:cs typeface="Times New Roman" panose="02020603050405020304" pitchFamily="18" charset="0"/>
              </a:rPr>
              <a:t>句型词汇积累：</a:t>
            </a:r>
            <a:r>
              <a:rPr lang="en-US" altLang="zh-CN" sz="2400" b="0" i="0" dirty="0" smtClean="0">
                <a:effectLst/>
                <a:latin typeface="Times New Roman" panose="02020603050405020304" pitchFamily="18" charset="0"/>
                <a:cs typeface="Times New Roman" panose="02020603050405020304" pitchFamily="18" charset="0"/>
              </a:rPr>
              <a:t> This motivates many studies to </a:t>
            </a:r>
            <a:r>
              <a:rPr lang="zh-CN" altLang="en-US" sz="2400" b="0" i="0" dirty="0" smtClean="0">
                <a:effectLst/>
                <a:latin typeface="Times New Roman" panose="02020603050405020304" pitchFamily="18" charset="0"/>
                <a:cs typeface="Times New Roman" panose="02020603050405020304" pitchFamily="18" charset="0"/>
              </a:rPr>
              <a:t>解决问题 </a:t>
            </a:r>
            <a:r>
              <a:rPr lang="en-US" altLang="zh-CN" sz="2400" b="0" i="0" dirty="0" smtClean="0">
                <a:effectLst/>
                <a:latin typeface="Times New Roman" panose="02020603050405020304" pitchFamily="18" charset="0"/>
                <a:cs typeface="Times New Roman" panose="02020603050405020304" pitchFamily="18" charset="0"/>
              </a:rPr>
              <a:t>often using </a:t>
            </a:r>
            <a:r>
              <a:rPr lang="zh-CN" altLang="en-US" sz="2400" b="0" i="0" dirty="0" smtClean="0">
                <a:effectLst/>
                <a:latin typeface="Times New Roman" panose="02020603050405020304" pitchFamily="18" charset="0"/>
                <a:cs typeface="Times New Roman" panose="02020603050405020304" pitchFamily="18" charset="0"/>
              </a:rPr>
              <a:t>方法</a:t>
            </a:r>
            <a:r>
              <a:rPr lang="en-US" altLang="zh-CN" sz="2400" b="0" i="0" dirty="0" smtClean="0">
                <a:effectLst/>
                <a:latin typeface="Times New Roman" panose="02020603050405020304" pitchFamily="18" charset="0"/>
                <a:cs typeface="Times New Roman" panose="02020603050405020304" pitchFamily="18" charset="0"/>
              </a:rPr>
              <a:t> as they can </a:t>
            </a:r>
            <a:r>
              <a:rPr lang="zh-CN" altLang="en-US" sz="2400" b="0" i="0" dirty="0" smtClean="0">
                <a:effectLst/>
                <a:latin typeface="Times New Roman" panose="02020603050405020304" pitchFamily="18" charset="0"/>
                <a:cs typeface="Times New Roman" panose="02020603050405020304" pitchFamily="18" charset="0"/>
              </a:rPr>
              <a:t>优点说明）</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6407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1929" y="0"/>
            <a:ext cx="11182066" cy="6694140"/>
          </a:xfrm>
          <a:prstGeom prst="rect">
            <a:avLst/>
          </a:prstGeom>
        </p:spPr>
        <p:txBody>
          <a:bodyPr wrap="square">
            <a:spAutoFit/>
          </a:bodyPr>
          <a:lstStyle/>
          <a:p>
            <a:pPr indent="457200">
              <a:lnSpc>
                <a:spcPct val="150000"/>
              </a:lnSpc>
            </a:pPr>
            <a:r>
              <a:rPr lang="en-US" altLang="zh-CN" sz="2200" dirty="0" smtClean="0">
                <a:latin typeface="Times New Roman" panose="02020603050405020304" pitchFamily="18" charset="0"/>
                <a:cs typeface="Times New Roman" panose="02020603050405020304" pitchFamily="18" charset="0"/>
              </a:rPr>
              <a:t>3</a:t>
            </a:r>
            <a:r>
              <a:rPr lang="zh-CN" altLang="en-US" sz="2200" dirty="0">
                <a:latin typeface="Times New Roman" panose="02020603050405020304" pitchFamily="18" charset="0"/>
                <a:cs typeface="Times New Roman" panose="02020603050405020304" pitchFamily="18" charset="0"/>
              </a:rPr>
              <a:t>、然而，基于 </a:t>
            </a:r>
            <a:r>
              <a:rPr lang="en-US" altLang="zh-CN" sz="2200" dirty="0">
                <a:latin typeface="Times New Roman" panose="02020603050405020304" pitchFamily="18" charset="0"/>
                <a:cs typeface="Times New Roman" panose="02020603050405020304" pitchFamily="18" charset="0"/>
              </a:rPr>
              <a:t>MOEA </a:t>
            </a:r>
            <a:r>
              <a:rPr lang="zh-CN" altLang="en-US" sz="2200" dirty="0">
                <a:latin typeface="Times New Roman" panose="02020603050405020304" pitchFamily="18" charset="0"/>
                <a:cs typeface="Times New Roman" panose="02020603050405020304" pitchFamily="18" charset="0"/>
              </a:rPr>
              <a:t>的方法通常计算成本高昂，且由于工程领域知识未被显式纳入，所得方案往往难以在实践中被</a:t>
            </a:r>
            <a:r>
              <a:rPr lang="zh-CN" altLang="en-US" sz="2200" dirty="0" smtClean="0">
                <a:latin typeface="Times New Roman" panose="02020603050405020304" pitchFamily="18" charset="0"/>
                <a:cs typeface="Times New Roman" panose="02020603050405020304" pitchFamily="18" charset="0"/>
              </a:rPr>
              <a:t>接受。</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en-US" altLang="zh-CN" sz="2200" dirty="0" smtClean="0">
                <a:latin typeface="Times New Roman" panose="02020603050405020304" pitchFamily="18" charset="0"/>
                <a:cs typeface="Times New Roman" panose="02020603050405020304" pitchFamily="18" charset="0"/>
              </a:rPr>
              <a:t>4</a:t>
            </a:r>
            <a:r>
              <a:rPr lang="zh-CN" altLang="en-US" sz="2200" dirty="0" smtClean="0">
                <a:latin typeface="Times New Roman" panose="02020603050405020304" pitchFamily="18" charset="0"/>
                <a:cs typeface="Times New Roman" panose="02020603050405020304" pitchFamily="18" charset="0"/>
              </a:rPr>
              <a:t>、为此</a:t>
            </a:r>
            <a:r>
              <a:rPr lang="zh-CN" altLang="en-US" sz="2200" dirty="0">
                <a:latin typeface="Times New Roman" panose="02020603050405020304" pitchFamily="18" charset="0"/>
                <a:cs typeface="Times New Roman" panose="02020603050405020304" pitchFamily="18" charset="0"/>
              </a:rPr>
              <a:t>，本文提出一种高效的城市排水系统优化框架，其中开发了一种基于工程经验的设计方法（</a:t>
            </a:r>
            <a:r>
              <a:rPr lang="en-US" altLang="zh-CN" sz="2200" dirty="0">
                <a:latin typeface="Times New Roman" panose="02020603050405020304" pitchFamily="18" charset="0"/>
                <a:cs typeface="Times New Roman" panose="02020603050405020304" pitchFamily="18" charset="0"/>
              </a:rPr>
              <a:t>EBDM</a:t>
            </a:r>
            <a:r>
              <a:rPr lang="zh-CN" altLang="en-US" sz="2200" dirty="0">
                <a:latin typeface="Times New Roman" panose="02020603050405020304" pitchFamily="18" charset="0"/>
                <a:cs typeface="Times New Roman" panose="02020603050405020304" pitchFamily="18" charset="0"/>
              </a:rPr>
              <a:t>），用于生成近似初始解以启动 </a:t>
            </a:r>
            <a:r>
              <a:rPr lang="en-US" altLang="zh-CN" sz="2200" dirty="0">
                <a:latin typeface="Times New Roman" panose="02020603050405020304" pitchFamily="18" charset="0"/>
                <a:cs typeface="Times New Roman" panose="02020603050405020304" pitchFamily="18" charset="0"/>
              </a:rPr>
              <a:t>MOEA </a:t>
            </a:r>
            <a:r>
              <a:rPr lang="zh-CN" altLang="en-US" sz="2200" dirty="0">
                <a:latin typeface="Times New Roman" panose="02020603050405020304" pitchFamily="18" charset="0"/>
                <a:cs typeface="Times New Roman" panose="02020603050405020304" pitchFamily="18" charset="0"/>
              </a:rPr>
              <a:t>搜索，从而大幅提升优化</a:t>
            </a:r>
            <a:r>
              <a:rPr lang="zh-CN" altLang="en-US" sz="2200" dirty="0" smtClean="0">
                <a:latin typeface="Times New Roman" panose="02020603050405020304" pitchFamily="18" charset="0"/>
                <a:cs typeface="Times New Roman" panose="02020603050405020304" pitchFamily="18" charset="0"/>
              </a:rPr>
              <a:t>效率。</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zh-CN" altLang="en-US" sz="2200" dirty="0" smtClean="0">
                <a:solidFill>
                  <a:srgbClr val="FF0000"/>
                </a:solidFill>
                <a:latin typeface="Times New Roman" panose="02020603050405020304" pitchFamily="18" charset="0"/>
                <a:cs typeface="Times New Roman" panose="02020603050405020304" pitchFamily="18" charset="0"/>
              </a:rPr>
              <a:t>写作要点：</a:t>
            </a:r>
            <a:endParaRPr lang="en-US" altLang="zh-CN" sz="2200" dirty="0">
              <a:solidFill>
                <a:srgbClr val="FF0000"/>
              </a:solidFill>
              <a:latin typeface="Times New Roman" panose="02020603050405020304" pitchFamily="18" charset="0"/>
              <a:cs typeface="Times New Roman" panose="02020603050405020304" pitchFamily="18" charset="0"/>
            </a:endParaRPr>
          </a:p>
          <a:p>
            <a:pPr indent="457200">
              <a:lnSpc>
                <a:spcPct val="150000"/>
              </a:lnSpc>
            </a:pPr>
            <a:r>
              <a:rPr lang="zh-CN" altLang="en-US" sz="2200" dirty="0" smtClean="0">
                <a:latin typeface="Times New Roman" panose="02020603050405020304" pitchFamily="18" charset="0"/>
                <a:cs typeface="Times New Roman" panose="02020603050405020304" pitchFamily="18" charset="0"/>
              </a:rPr>
              <a:t>第</a:t>
            </a:r>
            <a:r>
              <a:rPr lang="en-US" altLang="zh-CN" sz="2200" dirty="0" smtClean="0">
                <a:latin typeface="Times New Roman" panose="02020603050405020304" pitchFamily="18" charset="0"/>
                <a:cs typeface="Times New Roman" panose="02020603050405020304" pitchFamily="18" charset="0"/>
              </a:rPr>
              <a:t>3</a:t>
            </a:r>
            <a:r>
              <a:rPr lang="zh-CN" altLang="en-US" sz="2200" dirty="0" smtClean="0">
                <a:latin typeface="Times New Roman" panose="02020603050405020304" pitchFamily="18" charset="0"/>
                <a:cs typeface="Times New Roman" panose="02020603050405020304" pitchFamily="18" charset="0"/>
              </a:rPr>
              <a:t>句话：</a:t>
            </a:r>
            <a:r>
              <a:rPr lang="zh-CN" altLang="en-US" sz="2200" dirty="0" smtClean="0">
                <a:latin typeface="Times New Roman" panose="02020603050405020304" pitchFamily="18" charset="0"/>
                <a:cs typeface="Times New Roman" panose="02020603050405020304" pitchFamily="18" charset="0"/>
              </a:rPr>
              <a:t>传统方法缺点说明</a:t>
            </a:r>
            <a:r>
              <a:rPr lang="en-US" altLang="zh-CN" sz="2200" dirty="0" smtClean="0">
                <a:latin typeface="Times New Roman" panose="02020603050405020304" pitchFamily="18" charset="0"/>
                <a:cs typeface="Times New Roman" panose="02020603050405020304" pitchFamily="18" charset="0"/>
              </a:rPr>
              <a:t>-research gap/</a:t>
            </a:r>
            <a:r>
              <a:rPr lang="zh-CN" altLang="en-US" sz="2200" dirty="0" smtClean="0">
                <a:latin typeface="Times New Roman" panose="02020603050405020304" pitchFamily="18" charset="0"/>
                <a:cs typeface="Times New Roman" panose="02020603050405020304" pitchFamily="18" charset="0"/>
              </a:rPr>
              <a:t>研究缺口确认</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zh-CN" altLang="en-US" sz="2200" dirty="0" smtClean="0">
                <a:latin typeface="Times New Roman" panose="02020603050405020304" pitchFamily="18" charset="0"/>
                <a:cs typeface="Times New Roman" panose="02020603050405020304" pitchFamily="18" charset="0"/>
              </a:rPr>
              <a:t>第</a:t>
            </a:r>
            <a:r>
              <a:rPr lang="en-US" altLang="zh-CN" sz="2200" dirty="0" smtClean="0">
                <a:latin typeface="Times New Roman" panose="02020603050405020304" pitchFamily="18" charset="0"/>
                <a:cs typeface="Times New Roman" panose="02020603050405020304" pitchFamily="18" charset="0"/>
              </a:rPr>
              <a:t>4</a:t>
            </a:r>
            <a:r>
              <a:rPr lang="zh-CN" altLang="en-US" sz="2200" dirty="0" smtClean="0">
                <a:latin typeface="Times New Roman" panose="02020603050405020304" pitchFamily="18" charset="0"/>
                <a:cs typeface="Times New Roman" panose="02020603050405020304" pitchFamily="18" charset="0"/>
              </a:rPr>
              <a:t>句话：</a:t>
            </a:r>
            <a:r>
              <a:rPr lang="zh-CN" altLang="en-US" sz="2200" dirty="0" smtClean="0">
                <a:latin typeface="Times New Roman" panose="02020603050405020304" pitchFamily="18" charset="0"/>
                <a:cs typeface="Times New Roman" panose="02020603050405020304" pitchFamily="18" charset="0"/>
              </a:rPr>
              <a:t>概述提出方法</a:t>
            </a:r>
            <a:r>
              <a:rPr lang="en-US" altLang="zh-CN" sz="2200" dirty="0" smtClean="0">
                <a:latin typeface="Times New Roman" panose="02020603050405020304" pitchFamily="18" charset="0"/>
                <a:cs typeface="Times New Roman" panose="02020603050405020304" pitchFamily="18" charset="0"/>
              </a:rPr>
              <a:t>-</a:t>
            </a:r>
            <a:r>
              <a:rPr lang="zh-CN" altLang="en-US" sz="2200" dirty="0" smtClean="0">
                <a:latin typeface="Times New Roman" panose="02020603050405020304" pitchFamily="18" charset="0"/>
                <a:cs typeface="Times New Roman" panose="02020603050405020304" pitchFamily="18" charset="0"/>
              </a:rPr>
              <a:t>解决问题、原理</a:t>
            </a:r>
            <a:r>
              <a:rPr lang="en-US" altLang="zh-CN" sz="2200" dirty="0" smtClean="0">
                <a:latin typeface="Times New Roman" panose="02020603050405020304" pitchFamily="18" charset="0"/>
                <a:cs typeface="Times New Roman" panose="02020603050405020304" pitchFamily="18" charset="0"/>
              </a:rPr>
              <a:t>-</a:t>
            </a:r>
            <a:r>
              <a:rPr lang="zh-CN" altLang="en-US" sz="2200" dirty="0" smtClean="0">
                <a:latin typeface="Times New Roman" panose="02020603050405020304" pitchFamily="18" charset="0"/>
                <a:cs typeface="Times New Roman" panose="02020603050405020304" pitchFamily="18" charset="0"/>
              </a:rPr>
              <a:t>目的</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zh-CN" altLang="en-US" sz="2200" dirty="0" smtClean="0">
                <a:solidFill>
                  <a:srgbClr val="FF0000"/>
                </a:solidFill>
                <a:latin typeface="Times New Roman" panose="02020603050405020304" pitchFamily="18" charset="0"/>
                <a:cs typeface="Times New Roman" panose="02020603050405020304" pitchFamily="18" charset="0"/>
              </a:rPr>
              <a:t>小白错误：</a:t>
            </a:r>
            <a:r>
              <a:rPr lang="en-US" altLang="zh-CN" sz="2200" dirty="0" smtClean="0">
                <a:latin typeface="Times New Roman" panose="02020603050405020304" pitchFamily="18" charset="0"/>
                <a:cs typeface="Times New Roman" panose="02020603050405020304" pitchFamily="18" charset="0"/>
              </a:rPr>
              <a:t>1</a:t>
            </a:r>
            <a:r>
              <a:rPr lang="zh-CN" altLang="en-US" sz="2200" dirty="0" smtClean="0">
                <a:latin typeface="Times New Roman" panose="02020603050405020304" pitchFamily="18" charset="0"/>
                <a:cs typeface="Times New Roman" panose="02020603050405020304" pitchFamily="18" charset="0"/>
              </a:rPr>
              <a:t>）未能准确总结缺口，缺口过多；</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en-US" altLang="zh-CN" sz="2200" dirty="0" smtClean="0">
                <a:latin typeface="Times New Roman" panose="02020603050405020304" pitchFamily="18" charset="0"/>
                <a:cs typeface="Times New Roman" panose="02020603050405020304" pitchFamily="18" charset="0"/>
              </a:rPr>
              <a:t>2</a:t>
            </a:r>
            <a:r>
              <a:rPr lang="zh-CN" altLang="en-US" sz="2200" dirty="0" smtClean="0">
                <a:latin typeface="Times New Roman" panose="02020603050405020304" pitchFamily="18" charset="0"/>
                <a:cs typeface="Times New Roman" panose="02020603050405020304" pitchFamily="18" charset="0"/>
              </a:rPr>
              <a:t>）提出方法创新未能与缺口对应，未</a:t>
            </a:r>
            <a:r>
              <a:rPr lang="zh-CN" altLang="en-US" sz="2200" dirty="0" smtClean="0">
                <a:latin typeface="Times New Roman" panose="02020603050405020304" pitchFamily="18" charset="0"/>
                <a:cs typeface="Times New Roman" panose="02020603050405020304" pitchFamily="18" charset="0"/>
              </a:rPr>
              <a:t>能</a:t>
            </a:r>
            <a:r>
              <a:rPr lang="zh-CN" altLang="en-US" sz="2200" dirty="0">
                <a:solidFill>
                  <a:srgbClr val="FF0000"/>
                </a:solidFill>
                <a:latin typeface="Times New Roman" panose="02020603050405020304" pitchFamily="18" charset="0"/>
                <a:cs typeface="Times New Roman" panose="02020603050405020304" pitchFamily="18" charset="0"/>
              </a:rPr>
              <a:t>一句话</a:t>
            </a:r>
            <a:r>
              <a:rPr lang="zh-CN" altLang="en-US" sz="2200" dirty="0" smtClean="0">
                <a:latin typeface="Times New Roman" panose="02020603050405020304" pitchFamily="18" charset="0"/>
                <a:cs typeface="Times New Roman" panose="02020603050405020304" pitchFamily="18" charset="0"/>
              </a:rPr>
              <a:t>总结原理与与目的</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zh-CN" altLang="en-US" sz="2000" dirty="0" smtClean="0">
                <a:latin typeface="Times New Roman" panose="02020603050405020304" pitchFamily="18" charset="0"/>
                <a:cs typeface="Times New Roman" panose="02020603050405020304" pitchFamily="18" charset="0"/>
              </a:rPr>
              <a:t>句型词汇积累：</a:t>
            </a:r>
            <a:r>
              <a:rPr lang="en-US" altLang="zh-CN" sz="2000" dirty="0" smtClean="0">
                <a:latin typeface="Times New Roman" panose="02020603050405020304" pitchFamily="18" charset="0"/>
                <a:cs typeface="Times New Roman" panose="02020603050405020304" pitchFamily="18" charset="0"/>
              </a:rPr>
              <a:t>1</a:t>
            </a:r>
            <a:r>
              <a:rPr lang="zh-CN" altLang="en-US" sz="2000" dirty="0" smtClean="0">
                <a:latin typeface="Times New Roman" panose="02020603050405020304" pitchFamily="18" charset="0"/>
                <a:cs typeface="Times New Roman" panose="02020603050405020304" pitchFamily="18" charset="0"/>
              </a:rPr>
              <a:t>）</a:t>
            </a:r>
            <a:r>
              <a:rPr lang="en-US" altLang="zh-CN" sz="2200" b="0" i="0" dirty="0" smtClean="0">
                <a:effectLst/>
                <a:latin typeface="Times New Roman" panose="02020603050405020304" pitchFamily="18" charset="0"/>
                <a:cs typeface="Times New Roman" panose="02020603050405020304" pitchFamily="18" charset="0"/>
              </a:rPr>
              <a:t>However, X are typically computationally demanding and their solutions are often practically unacceptable as </a:t>
            </a:r>
            <a:r>
              <a:rPr lang="zh-CN" altLang="en-US" sz="2200" b="0" i="0" dirty="0" smtClean="0">
                <a:effectLst/>
                <a:latin typeface="Times New Roman" panose="02020603050405020304" pitchFamily="18" charset="0"/>
                <a:cs typeface="Times New Roman" panose="02020603050405020304" pitchFamily="18" charset="0"/>
              </a:rPr>
              <a:t>的使用</a:t>
            </a:r>
            <a:r>
              <a:rPr lang="en-US" altLang="zh-CN" sz="2200" b="0" i="0" dirty="0" smtClean="0">
                <a:effectLst/>
                <a:latin typeface="Times New Roman" panose="02020603050405020304" pitchFamily="18" charset="0"/>
                <a:cs typeface="Times New Roman" panose="02020603050405020304" pitchFamily="18" charset="0"/>
              </a:rPr>
              <a:t> </a:t>
            </a:r>
            <a:r>
              <a:rPr lang="zh-CN" altLang="en-US" sz="2200" b="0" i="0" dirty="0" smtClean="0">
                <a:effectLst/>
                <a:latin typeface="Times New Roman" panose="02020603050405020304" pitchFamily="18" charset="0"/>
                <a:cs typeface="Times New Roman" panose="02020603050405020304" pitchFamily="18" charset="0"/>
              </a:rPr>
              <a:t>由于</a:t>
            </a:r>
            <a:r>
              <a:rPr lang="en-US" altLang="zh-CN" sz="2200" b="0" i="0" dirty="0" smtClean="0">
                <a:effectLst/>
                <a:latin typeface="Times New Roman" panose="02020603050405020304" pitchFamily="18" charset="0"/>
                <a:cs typeface="Times New Roman" panose="02020603050405020304" pitchFamily="18" charset="0"/>
              </a:rPr>
              <a:t>x</a:t>
            </a:r>
            <a:r>
              <a:rPr lang="zh-CN" altLang="en-US" sz="2200" b="0" i="0" dirty="0" smtClean="0">
                <a:effectLst/>
                <a:latin typeface="Times New Roman" panose="02020603050405020304" pitchFamily="18" charset="0"/>
                <a:cs typeface="Times New Roman" panose="02020603050405020304" pitchFamily="18" charset="0"/>
              </a:rPr>
              <a:t>原因</a:t>
            </a:r>
            <a:r>
              <a:rPr lang="en-US" altLang="zh-CN" sz="2200" b="0" i="0" dirty="0" smtClean="0">
                <a:effectLst/>
                <a:latin typeface="Times New Roman" panose="02020603050405020304" pitchFamily="18" charset="0"/>
                <a:cs typeface="Times New Roman" panose="02020603050405020304" pitchFamily="18" charset="0"/>
              </a:rPr>
              <a:t>. </a:t>
            </a:r>
          </a:p>
          <a:p>
            <a:pPr indent="457200">
              <a:lnSpc>
                <a:spcPct val="150000"/>
              </a:lnSpc>
            </a:pPr>
            <a:r>
              <a:rPr lang="en-US" altLang="zh-CN" sz="2200" b="0" i="0" dirty="0" smtClean="0">
                <a:effectLst/>
                <a:latin typeface="Times New Roman" panose="02020603050405020304" pitchFamily="18" charset="0"/>
                <a:cs typeface="Times New Roman" panose="02020603050405020304" pitchFamily="18" charset="0"/>
              </a:rPr>
              <a:t>2</a:t>
            </a:r>
            <a:r>
              <a:rPr lang="zh-CN" altLang="en-US" sz="2200" b="0" i="0" dirty="0" smtClean="0">
                <a:effectLst/>
                <a:latin typeface="Times New Roman" panose="02020603050405020304" pitchFamily="18" charset="0"/>
                <a:cs typeface="Times New Roman" panose="02020603050405020304" pitchFamily="18" charset="0"/>
              </a:rPr>
              <a:t>）</a:t>
            </a:r>
            <a:r>
              <a:rPr lang="en-US" altLang="zh-CN" sz="2200" b="0" i="0" dirty="0" smtClean="0">
                <a:effectLst/>
                <a:latin typeface="Times New Roman" panose="02020603050405020304" pitchFamily="18" charset="0"/>
                <a:cs typeface="Times New Roman" panose="02020603050405020304" pitchFamily="18" charset="0"/>
              </a:rPr>
              <a:t>To address these two issues, this paper proposes an efficient </a:t>
            </a:r>
            <a:r>
              <a:rPr lang="zh-CN" altLang="en-US" sz="2200" b="0" i="0" dirty="0" smtClean="0">
                <a:effectLst/>
                <a:latin typeface="Times New Roman" panose="02020603050405020304" pitchFamily="18" charset="0"/>
                <a:cs typeface="Times New Roman" panose="02020603050405020304" pitchFamily="18" charset="0"/>
              </a:rPr>
              <a:t>方法</a:t>
            </a:r>
            <a:r>
              <a:rPr lang="en-US" altLang="zh-CN" sz="2200" b="0" i="0" dirty="0" smtClean="0">
                <a:effectLst/>
                <a:latin typeface="Times New Roman" panose="02020603050405020304" pitchFamily="18" charset="0"/>
                <a:cs typeface="Times New Roman" panose="02020603050405020304" pitchFamily="18" charset="0"/>
              </a:rPr>
              <a:t> for </a:t>
            </a:r>
            <a:r>
              <a:rPr lang="zh-CN" altLang="en-US" sz="2200" b="0" i="0" dirty="0" smtClean="0">
                <a:effectLst/>
                <a:latin typeface="Times New Roman" panose="02020603050405020304" pitchFamily="18" charset="0"/>
                <a:cs typeface="Times New Roman" panose="02020603050405020304" pitchFamily="18" charset="0"/>
              </a:rPr>
              <a:t>问题</a:t>
            </a:r>
            <a:r>
              <a:rPr lang="en-US" altLang="zh-CN" sz="2200" b="0" i="0" dirty="0" smtClean="0">
                <a:effectLst/>
                <a:latin typeface="Times New Roman" panose="02020603050405020304" pitchFamily="18" charset="0"/>
                <a:cs typeface="Times New Roman" panose="02020603050405020304" pitchFamily="18" charset="0"/>
              </a:rPr>
              <a:t>, where an </a:t>
            </a:r>
            <a:r>
              <a:rPr lang="zh-CN" altLang="en-US" sz="2200" b="0" i="0" dirty="0" smtClean="0">
                <a:effectLst/>
                <a:latin typeface="Times New Roman" panose="02020603050405020304" pitchFamily="18" charset="0"/>
                <a:cs typeface="Times New Roman" panose="02020603050405020304" pitchFamily="18" charset="0"/>
              </a:rPr>
              <a:t>原理总结</a:t>
            </a:r>
            <a:r>
              <a:rPr lang="en-US" altLang="zh-CN" sz="2200" b="0" i="0" dirty="0" smtClean="0">
                <a:effectLst/>
                <a:latin typeface="Times New Roman" panose="02020603050405020304" pitchFamily="18" charset="0"/>
                <a:cs typeface="Times New Roman" panose="02020603050405020304" pitchFamily="18" charset="0"/>
              </a:rPr>
              <a:t>(EBDM) is developed to X to </a:t>
            </a:r>
            <a:r>
              <a:rPr lang="zh-CN" altLang="en-US" sz="2200" b="0" i="0" dirty="0" smtClean="0">
                <a:effectLst/>
                <a:latin typeface="Times New Roman" panose="02020603050405020304" pitchFamily="18" charset="0"/>
                <a:cs typeface="Times New Roman" panose="02020603050405020304" pitchFamily="18" charset="0"/>
              </a:rPr>
              <a:t>带动目的</a:t>
            </a:r>
            <a:r>
              <a:rPr lang="en-US" altLang="zh-CN" sz="2200" b="0" i="0" dirty="0" smtClean="0">
                <a:effectLst/>
                <a:latin typeface="Times New Roman" panose="02020603050405020304" pitchFamily="18" charset="0"/>
                <a:cs typeface="Times New Roman" panose="02020603050405020304" pitchFamily="18" charset="0"/>
              </a:rPr>
              <a:t>, thereby </a:t>
            </a:r>
            <a:r>
              <a:rPr lang="en-US" altLang="zh-CN" sz="2200" b="0" i="0" dirty="0" err="1" smtClean="0">
                <a:effectLst/>
                <a:latin typeface="Times New Roman" panose="02020603050405020304" pitchFamily="18" charset="0"/>
                <a:cs typeface="Times New Roman" panose="02020603050405020304" pitchFamily="18" charset="0"/>
              </a:rPr>
              <a:t>greatl</a:t>
            </a:r>
            <a:r>
              <a:rPr lang="en-US" altLang="zh-CN" sz="2200" b="0" i="0" dirty="0" smtClean="0">
                <a:effectLst/>
                <a:latin typeface="Times New Roman" panose="02020603050405020304" pitchFamily="18" charset="0"/>
                <a:cs typeface="Times New Roman" panose="02020603050405020304" pitchFamily="18" charset="0"/>
              </a:rPr>
              <a:t> </a:t>
            </a:r>
            <a:r>
              <a:rPr lang="en-US" altLang="zh-CN" sz="2200" b="0" i="0" dirty="0" err="1" smtClean="0">
                <a:effectLst/>
                <a:latin typeface="Times New Roman" panose="02020603050405020304" pitchFamily="18" charset="0"/>
                <a:cs typeface="Times New Roman" panose="02020603050405020304" pitchFamily="18" charset="0"/>
              </a:rPr>
              <a:t>yX</a:t>
            </a:r>
            <a:r>
              <a:rPr lang="zh-CN" altLang="en-US" sz="2200" b="0" i="0" dirty="0" smtClean="0">
                <a:effectLst/>
                <a:latin typeface="Times New Roman" panose="02020603050405020304" pitchFamily="18" charset="0"/>
                <a:cs typeface="Times New Roman" panose="02020603050405020304" pitchFamily="18" charset="0"/>
              </a:rPr>
              <a:t>（目的说明）</a:t>
            </a:r>
            <a:r>
              <a:rPr lang="en-US" altLang="zh-CN" sz="2200" b="0" i="0" dirty="0" smtClean="0">
                <a:effectLst/>
                <a:latin typeface="Times New Roman" panose="02020603050405020304" pitchFamily="18" charset="0"/>
                <a:cs typeface="Times New Roman" panose="02020603050405020304" pitchFamily="18" charset="0"/>
              </a:rPr>
              <a:t>.</a:t>
            </a:r>
            <a:endParaRPr lang="zh-CN"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8384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7462" y="150336"/>
            <a:ext cx="11809863" cy="6694140"/>
          </a:xfrm>
          <a:prstGeom prst="rect">
            <a:avLst/>
          </a:prstGeom>
        </p:spPr>
        <p:txBody>
          <a:bodyPr wrap="square">
            <a:spAutoFit/>
          </a:bodyPr>
          <a:lstStyle/>
          <a:p>
            <a:pPr indent="457200">
              <a:lnSpc>
                <a:spcPct val="150000"/>
              </a:lnSpc>
            </a:pPr>
            <a:r>
              <a:rPr lang="en-US" altLang="zh-CN" sz="2200" dirty="0">
                <a:latin typeface="Times New Roman" panose="02020603050405020304" pitchFamily="18" charset="0"/>
                <a:cs typeface="Times New Roman" panose="02020603050405020304" pitchFamily="18" charset="0"/>
              </a:rPr>
              <a:t>4</a:t>
            </a:r>
            <a:r>
              <a:rPr lang="zh-CN" altLang="en-US" sz="2200" dirty="0">
                <a:latin typeface="Times New Roman" panose="02020603050405020304" pitchFamily="18" charset="0"/>
                <a:cs typeface="Times New Roman" panose="02020603050405020304" pitchFamily="18" charset="0"/>
              </a:rPr>
              <a:t>、为进一步提升方案的可实施性，所提出的优化方法（</a:t>
            </a:r>
            <a:r>
              <a:rPr lang="en-US" altLang="zh-CN" sz="2200" dirty="0">
                <a:latin typeface="Times New Roman" panose="02020603050405020304" pitchFamily="18" charset="0"/>
                <a:cs typeface="Times New Roman" panose="02020603050405020304" pitchFamily="18" charset="0"/>
              </a:rPr>
              <a:t>PM</a:t>
            </a:r>
            <a:r>
              <a:rPr lang="zh-CN" altLang="en-US" sz="2200" dirty="0">
                <a:latin typeface="Times New Roman" panose="02020603050405020304" pitchFamily="18" charset="0"/>
                <a:cs typeface="Times New Roman" panose="02020603050405020304" pitchFamily="18" charset="0"/>
              </a:rPr>
              <a:t>）中实施了两项创新</a:t>
            </a:r>
            <a:r>
              <a:rPr lang="zh-CN" altLang="en-US" sz="2200" dirty="0" smtClean="0">
                <a:latin typeface="Times New Roman" panose="02020603050405020304" pitchFamily="18" charset="0"/>
                <a:cs typeface="Times New Roman" panose="02020603050405020304" pitchFamily="18" charset="0"/>
              </a:rPr>
              <a:t>：</a:t>
            </a:r>
            <a:endParaRPr lang="en-US" altLang="zh-CN" sz="2200" dirty="0">
              <a:latin typeface="Times New Roman" panose="02020603050405020304" pitchFamily="18" charset="0"/>
              <a:cs typeface="Times New Roman" panose="02020603050405020304" pitchFamily="18" charset="0"/>
            </a:endParaRPr>
          </a:p>
          <a:p>
            <a:pPr marL="514350" indent="-514350">
              <a:lnSpc>
                <a:spcPct val="150000"/>
              </a:lnSpc>
              <a:buAutoNum type="romanLcParenBoth"/>
            </a:pPr>
            <a:r>
              <a:rPr lang="zh-CN" altLang="en-US" sz="2200" dirty="0" smtClean="0">
                <a:latin typeface="Times New Roman" panose="02020603050405020304" pitchFamily="18" charset="0"/>
                <a:cs typeface="Times New Roman" panose="02020603050405020304" pitchFamily="18" charset="0"/>
              </a:rPr>
              <a:t>最小</a:t>
            </a:r>
            <a:r>
              <a:rPr lang="zh-CN" altLang="en-US" sz="2200" dirty="0">
                <a:latin typeface="Times New Roman" panose="02020603050405020304" pitchFamily="18" charset="0"/>
                <a:cs typeface="Times New Roman" panose="02020603050405020304" pitchFamily="18" charset="0"/>
              </a:rPr>
              <a:t>化各管道峰值水深的变异度</a:t>
            </a:r>
            <a:r>
              <a:rPr lang="zh-CN" altLang="en-US" sz="2200" dirty="0" smtClean="0">
                <a:latin typeface="Times New Roman" panose="02020603050405020304" pitchFamily="18" charset="0"/>
                <a:cs typeface="Times New Roman" panose="02020603050405020304" pitchFamily="18" charset="0"/>
              </a:rPr>
              <a:t>；</a:t>
            </a:r>
            <a:endParaRPr lang="en-US" altLang="zh-CN" sz="2200" dirty="0">
              <a:latin typeface="Times New Roman" panose="02020603050405020304" pitchFamily="18" charset="0"/>
              <a:cs typeface="Times New Roman" panose="02020603050405020304" pitchFamily="18" charset="0"/>
            </a:endParaRPr>
          </a:p>
          <a:p>
            <a:pPr marL="514350" indent="-514350">
              <a:lnSpc>
                <a:spcPct val="150000"/>
              </a:lnSpc>
              <a:buAutoNum type="romanLcParenBoth"/>
            </a:pPr>
            <a:r>
              <a:rPr lang="en-US" altLang="zh-CN" sz="2200" dirty="0" smtClean="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ii) </a:t>
            </a:r>
            <a:r>
              <a:rPr lang="zh-CN" altLang="en-US" sz="2200" dirty="0">
                <a:latin typeface="Times New Roman" panose="02020603050405020304" pitchFamily="18" charset="0"/>
                <a:cs typeface="Times New Roman" panose="02020603050405020304" pitchFamily="18" charset="0"/>
              </a:rPr>
              <a:t>引入约束，确保下游方向管道的尺寸不小于其对应上游管</a:t>
            </a:r>
            <a:r>
              <a:rPr lang="zh-CN" altLang="en-US" sz="2200" dirty="0" smtClean="0">
                <a:latin typeface="Times New Roman" panose="02020603050405020304" pitchFamily="18" charset="0"/>
                <a:cs typeface="Times New Roman" panose="02020603050405020304" pitchFamily="18" charset="0"/>
              </a:rPr>
              <a:t>径。</a:t>
            </a:r>
            <a:endParaRPr lang="en-US" altLang="zh-CN" sz="2200" dirty="0" smtClean="0">
              <a:latin typeface="Times New Roman" panose="02020603050405020304" pitchFamily="18" charset="0"/>
              <a:cs typeface="Times New Roman" panose="02020603050405020304" pitchFamily="18" charset="0"/>
            </a:endParaRPr>
          </a:p>
          <a:p>
            <a:pPr>
              <a:lnSpc>
                <a:spcPct val="150000"/>
              </a:lnSpc>
            </a:pPr>
            <a:r>
              <a:rPr lang="en-US" altLang="zh-CN" sz="2200" dirty="0" smtClean="0">
                <a:latin typeface="Times New Roman" panose="02020603050405020304" pitchFamily="18" charset="0"/>
                <a:cs typeface="Times New Roman" panose="02020603050405020304" pitchFamily="18" charset="0"/>
              </a:rPr>
              <a:t>5</a:t>
            </a:r>
            <a:r>
              <a:rPr lang="zh-CN" altLang="en-US" sz="2200" dirty="0">
                <a:latin typeface="Times New Roman" panose="02020603050405020304" pitchFamily="18" charset="0"/>
                <a:cs typeface="Times New Roman" panose="02020603050405020304" pitchFamily="18" charset="0"/>
              </a:rPr>
              <a:t>、采用两个不同规模的真实城市排水系统案例来验证 </a:t>
            </a:r>
            <a:r>
              <a:rPr lang="en-US" altLang="zh-CN" sz="2200" dirty="0">
                <a:latin typeface="Times New Roman" panose="02020603050405020304" pitchFamily="18" charset="0"/>
                <a:cs typeface="Times New Roman" panose="02020603050405020304" pitchFamily="18" charset="0"/>
              </a:rPr>
              <a:t>PM </a:t>
            </a:r>
            <a:r>
              <a:rPr lang="zh-CN" altLang="en-US" sz="2200" dirty="0">
                <a:latin typeface="Times New Roman" panose="02020603050405020304" pitchFamily="18" charset="0"/>
                <a:cs typeface="Times New Roman" panose="02020603050405020304" pitchFamily="18" charset="0"/>
              </a:rPr>
              <a:t>的</a:t>
            </a:r>
            <a:r>
              <a:rPr lang="zh-CN" altLang="en-US" sz="2200" dirty="0" smtClean="0">
                <a:latin typeface="Times New Roman" panose="02020603050405020304" pitchFamily="18" charset="0"/>
                <a:cs typeface="Times New Roman" panose="02020603050405020304" pitchFamily="18" charset="0"/>
              </a:rPr>
              <a:t>有效性。</a:t>
            </a:r>
            <a:endParaRPr lang="en-US" altLang="zh-CN" sz="2200" dirty="0">
              <a:latin typeface="Times New Roman" panose="02020603050405020304" pitchFamily="18" charset="0"/>
              <a:cs typeface="Times New Roman" panose="02020603050405020304" pitchFamily="18" charset="0"/>
            </a:endParaRPr>
          </a:p>
          <a:p>
            <a:pPr>
              <a:lnSpc>
                <a:spcPct val="150000"/>
              </a:lnSpc>
            </a:pPr>
            <a:r>
              <a:rPr lang="zh-CN" altLang="en-US" sz="2200" dirty="0" smtClean="0">
                <a:latin typeface="Times New Roman" panose="02020603050405020304" pitchFamily="18" charset="0"/>
                <a:cs typeface="Times New Roman" panose="02020603050405020304" pitchFamily="18" charset="0"/>
              </a:rPr>
              <a:t>写作要点</a:t>
            </a:r>
            <a:endParaRPr lang="en-US" altLang="zh-CN" sz="2200" dirty="0">
              <a:latin typeface="Times New Roman" panose="02020603050405020304" pitchFamily="18" charset="0"/>
              <a:cs typeface="Times New Roman" panose="02020603050405020304" pitchFamily="18" charset="0"/>
            </a:endParaRPr>
          </a:p>
          <a:p>
            <a:pPr>
              <a:lnSpc>
                <a:spcPct val="150000"/>
              </a:lnSpc>
            </a:pPr>
            <a:r>
              <a:rPr lang="zh-CN" altLang="en-US" sz="2200" dirty="0" smtClean="0">
                <a:latin typeface="Times New Roman" panose="02020603050405020304" pitchFamily="18" charset="0"/>
                <a:cs typeface="Times New Roman" panose="02020603050405020304" pitchFamily="18" charset="0"/>
              </a:rPr>
              <a:t>第</a:t>
            </a:r>
            <a:r>
              <a:rPr lang="en-US" altLang="zh-CN" sz="2200" dirty="0" smtClean="0">
                <a:latin typeface="Times New Roman" panose="02020603050405020304" pitchFamily="18" charset="0"/>
                <a:cs typeface="Times New Roman" panose="02020603050405020304" pitchFamily="18" charset="0"/>
              </a:rPr>
              <a:t>4</a:t>
            </a:r>
            <a:r>
              <a:rPr lang="zh-CN" altLang="en-US" sz="2200" dirty="0" smtClean="0">
                <a:latin typeface="Times New Roman" panose="02020603050405020304" pitchFamily="18" charset="0"/>
                <a:cs typeface="Times New Roman" panose="02020603050405020304" pitchFamily="18" charset="0"/>
              </a:rPr>
              <a:t>句话：</a:t>
            </a:r>
            <a:r>
              <a:rPr lang="zh-CN" altLang="en-US" sz="2200" dirty="0" smtClean="0">
                <a:latin typeface="Times New Roman" panose="02020603050405020304" pitchFamily="18" charset="0"/>
                <a:cs typeface="Times New Roman" panose="02020603050405020304" pitchFamily="18" charset="0"/>
              </a:rPr>
              <a:t>所提出方法创新详细说明</a:t>
            </a:r>
            <a:endParaRPr lang="en-US" altLang="zh-CN" sz="2200" dirty="0">
              <a:latin typeface="Times New Roman" panose="02020603050405020304" pitchFamily="18" charset="0"/>
              <a:cs typeface="Times New Roman" panose="02020603050405020304" pitchFamily="18" charset="0"/>
            </a:endParaRPr>
          </a:p>
          <a:p>
            <a:pPr>
              <a:lnSpc>
                <a:spcPct val="150000"/>
              </a:lnSpc>
            </a:pPr>
            <a:r>
              <a:rPr lang="zh-CN" altLang="en-US" sz="2200" dirty="0" smtClean="0">
                <a:latin typeface="Times New Roman" panose="02020603050405020304" pitchFamily="18" charset="0"/>
                <a:cs typeface="Times New Roman" panose="02020603050405020304" pitchFamily="18" charset="0"/>
              </a:rPr>
              <a:t>第</a:t>
            </a:r>
            <a:r>
              <a:rPr lang="en-US" altLang="zh-CN" sz="2200" dirty="0" smtClean="0">
                <a:latin typeface="Times New Roman" panose="02020603050405020304" pitchFamily="18" charset="0"/>
                <a:cs typeface="Times New Roman" panose="02020603050405020304" pitchFamily="18" charset="0"/>
              </a:rPr>
              <a:t>5</a:t>
            </a:r>
            <a:r>
              <a:rPr lang="zh-CN" altLang="en-US" sz="2200" dirty="0" smtClean="0">
                <a:latin typeface="Times New Roman" panose="02020603050405020304" pitchFamily="18" charset="0"/>
                <a:cs typeface="Times New Roman" panose="02020603050405020304" pitchFamily="18" charset="0"/>
              </a:rPr>
              <a:t>句话：</a:t>
            </a:r>
            <a:r>
              <a:rPr lang="zh-CN" altLang="en-US" sz="2200" dirty="0" smtClean="0">
                <a:latin typeface="Times New Roman" panose="02020603050405020304" pitchFamily="18" charset="0"/>
                <a:cs typeface="Times New Roman" panose="02020603050405020304" pitchFamily="18" charset="0"/>
              </a:rPr>
              <a:t> </a:t>
            </a:r>
            <a:r>
              <a:rPr lang="en-US" altLang="zh-CN" sz="2200" dirty="0" smtClean="0">
                <a:latin typeface="Times New Roman" panose="02020603050405020304" pitchFamily="18" charset="0"/>
                <a:cs typeface="Times New Roman" panose="02020603050405020304" pitchFamily="18" charset="0"/>
              </a:rPr>
              <a:t>x</a:t>
            </a:r>
            <a:r>
              <a:rPr lang="zh-CN" altLang="en-US" sz="2200" dirty="0" smtClean="0">
                <a:latin typeface="Times New Roman" panose="02020603050405020304" pitchFamily="18" charset="0"/>
                <a:cs typeface="Times New Roman" panose="02020603050405020304" pitchFamily="18" charset="0"/>
              </a:rPr>
              <a:t>特征案例被用于验证方法</a:t>
            </a:r>
            <a:endParaRPr lang="en-US" altLang="zh-CN" sz="2200" dirty="0">
              <a:latin typeface="Times New Roman" panose="02020603050405020304" pitchFamily="18" charset="0"/>
              <a:cs typeface="Times New Roman" panose="02020603050405020304" pitchFamily="18" charset="0"/>
            </a:endParaRPr>
          </a:p>
          <a:p>
            <a:pPr>
              <a:lnSpc>
                <a:spcPct val="150000"/>
              </a:lnSpc>
            </a:pPr>
            <a:r>
              <a:rPr lang="zh-CN" altLang="en-US" sz="2200" dirty="0" smtClean="0">
                <a:latin typeface="Times New Roman" panose="02020603050405020304" pitchFamily="18" charset="0"/>
                <a:cs typeface="Times New Roman" panose="02020603050405020304" pitchFamily="18" charset="0"/>
              </a:rPr>
              <a:t>小白错误：</a:t>
            </a:r>
            <a:r>
              <a:rPr lang="en-US" altLang="zh-CN" sz="2200" dirty="0" smtClean="0">
                <a:latin typeface="Times New Roman" panose="02020603050405020304" pitchFamily="18" charset="0"/>
                <a:cs typeface="Times New Roman" panose="02020603050405020304" pitchFamily="18" charset="0"/>
              </a:rPr>
              <a:t>1</a:t>
            </a:r>
            <a:r>
              <a:rPr lang="zh-CN" altLang="en-US" sz="2200" dirty="0" smtClean="0">
                <a:latin typeface="Times New Roman" panose="02020603050405020304" pitchFamily="18" charset="0"/>
                <a:cs typeface="Times New Roman" panose="02020603050405020304" pitchFamily="18" charset="0"/>
              </a:rPr>
              <a:t>）未能总结方法创新，必须做到准确、凝练，讲重点、忽略次要</a:t>
            </a:r>
            <a:endParaRPr lang="en-US" altLang="zh-CN" sz="2200" dirty="0">
              <a:latin typeface="Times New Roman" panose="02020603050405020304" pitchFamily="18" charset="0"/>
              <a:cs typeface="Times New Roman" panose="02020603050405020304" pitchFamily="18" charset="0"/>
            </a:endParaRPr>
          </a:p>
          <a:p>
            <a:pPr>
              <a:lnSpc>
                <a:spcPct val="150000"/>
              </a:lnSpc>
            </a:pPr>
            <a:r>
              <a:rPr lang="en-US" altLang="zh-CN" sz="2200" dirty="0" smtClean="0">
                <a:latin typeface="Times New Roman" panose="02020603050405020304" pitchFamily="18" charset="0"/>
                <a:cs typeface="Times New Roman" panose="02020603050405020304" pitchFamily="18" charset="0"/>
              </a:rPr>
              <a:t>2</a:t>
            </a:r>
            <a:r>
              <a:rPr lang="zh-CN" altLang="en-US" sz="2200" dirty="0" smtClean="0">
                <a:latin typeface="Times New Roman" panose="02020603050405020304" pitchFamily="18" charset="0"/>
                <a:cs typeface="Times New Roman" panose="02020603050405020304" pitchFamily="18" charset="0"/>
              </a:rPr>
              <a:t>）缺第</a:t>
            </a:r>
            <a:r>
              <a:rPr lang="en-US" altLang="zh-CN" sz="2200" dirty="0" smtClean="0">
                <a:latin typeface="Times New Roman" panose="02020603050405020304" pitchFamily="18" charset="0"/>
                <a:cs typeface="Times New Roman" panose="02020603050405020304" pitchFamily="18" charset="0"/>
              </a:rPr>
              <a:t>5</a:t>
            </a:r>
            <a:r>
              <a:rPr lang="zh-CN" altLang="en-US" sz="2200" dirty="0" smtClean="0">
                <a:latin typeface="Times New Roman" panose="02020603050405020304" pitchFamily="18" charset="0"/>
                <a:cs typeface="Times New Roman" panose="02020603050405020304" pitchFamily="18" charset="0"/>
              </a:rPr>
              <a:t>句，或未能概述案例的特征</a:t>
            </a:r>
            <a:endParaRPr lang="en-US" altLang="zh-CN" sz="2200" dirty="0">
              <a:latin typeface="Times New Roman" panose="02020603050405020304" pitchFamily="18" charset="0"/>
              <a:cs typeface="Times New Roman" panose="02020603050405020304" pitchFamily="18" charset="0"/>
            </a:endParaRPr>
          </a:p>
          <a:p>
            <a:pPr>
              <a:lnSpc>
                <a:spcPct val="150000"/>
              </a:lnSpc>
            </a:pPr>
            <a:r>
              <a:rPr lang="zh-CN" altLang="en-US" sz="2200" dirty="0" smtClean="0">
                <a:latin typeface="Times New Roman" panose="02020603050405020304" pitchFamily="18" charset="0"/>
                <a:cs typeface="Times New Roman" panose="02020603050405020304" pitchFamily="18" charset="0"/>
              </a:rPr>
              <a:t>句型词汇积累：</a:t>
            </a:r>
            <a:r>
              <a:rPr lang="en-US" altLang="zh-CN" sz="2200" b="0" i="0" dirty="0" smtClean="0">
                <a:effectLst/>
                <a:latin typeface="Times New Roman" panose="02020603050405020304" pitchFamily="18" charset="0"/>
                <a:cs typeface="Times New Roman" panose="02020603050405020304" pitchFamily="18" charset="0"/>
              </a:rPr>
              <a:t> To improve the solution practicality</a:t>
            </a:r>
            <a:r>
              <a:rPr lang="en-US" altLang="zh-CN" sz="2200" b="0" i="0" dirty="0" smtClean="0">
                <a:solidFill>
                  <a:srgbClr val="FF0000"/>
                </a:solidFill>
                <a:effectLst/>
                <a:latin typeface="Times New Roman" panose="02020603050405020304" pitchFamily="18" charset="0"/>
                <a:cs typeface="Times New Roman" panose="02020603050405020304" pitchFamily="18" charset="0"/>
              </a:rPr>
              <a:t>, two ideas have been implemented </a:t>
            </a:r>
            <a:r>
              <a:rPr lang="en-US" altLang="zh-CN" sz="2200" b="0" i="0" dirty="0" smtClean="0">
                <a:effectLst/>
                <a:latin typeface="Times New Roman" panose="02020603050405020304" pitchFamily="18" charset="0"/>
                <a:cs typeface="Times New Roman" panose="02020603050405020304" pitchFamily="18" charset="0"/>
              </a:rPr>
              <a:t>in the X method (PM):(</a:t>
            </a:r>
            <a:r>
              <a:rPr lang="en-US" altLang="zh-CN" sz="2200" b="0" i="0" dirty="0" err="1" smtClean="0">
                <a:effectLst/>
                <a:latin typeface="Times New Roman" panose="02020603050405020304" pitchFamily="18" charset="0"/>
                <a:cs typeface="Times New Roman" panose="02020603050405020304" pitchFamily="18" charset="0"/>
              </a:rPr>
              <a:t>i</a:t>
            </a:r>
            <a:r>
              <a:rPr lang="en-US" altLang="zh-CN" sz="2200" b="0" i="0" dirty="0" smtClean="0">
                <a:effectLst/>
                <a:latin typeface="Times New Roman" panose="02020603050405020304" pitchFamily="18" charset="0"/>
                <a:cs typeface="Times New Roman" panose="02020603050405020304" pitchFamily="18" charset="0"/>
              </a:rPr>
              <a:t>) (ii)</a:t>
            </a:r>
            <a:r>
              <a:rPr lang="zh-CN" altLang="en-US" sz="2200" b="0" i="0" dirty="0" smtClean="0">
                <a:effectLst/>
                <a:latin typeface="Times New Roman" panose="02020603050405020304" pitchFamily="18" charset="0"/>
                <a:cs typeface="Times New Roman" panose="02020603050405020304" pitchFamily="18" charset="0"/>
              </a:rPr>
              <a:t>（所提出方法原理</a:t>
            </a:r>
            <a:r>
              <a:rPr lang="en-US" altLang="zh-CN" sz="2200" b="0" i="0" dirty="0" smtClean="0">
                <a:effectLst/>
                <a:latin typeface="Times New Roman" panose="02020603050405020304" pitchFamily="18" charset="0"/>
                <a:cs typeface="Times New Roman" panose="02020603050405020304" pitchFamily="18" charset="0"/>
              </a:rPr>
              <a:t>/</a:t>
            </a:r>
            <a:r>
              <a:rPr lang="zh-CN" altLang="en-US" sz="2200" b="0" i="0" dirty="0" smtClean="0">
                <a:effectLst/>
                <a:latin typeface="Times New Roman" panose="02020603050405020304" pitchFamily="18" charset="0"/>
                <a:cs typeface="Times New Roman" panose="02020603050405020304" pitchFamily="18" charset="0"/>
              </a:rPr>
              <a:t>创新详细说明）</a:t>
            </a:r>
            <a:r>
              <a:rPr lang="en-US" altLang="zh-CN" sz="2200" b="0" i="0" dirty="0" smtClean="0">
                <a:effectLst/>
                <a:latin typeface="Times New Roman" panose="02020603050405020304" pitchFamily="18" charset="0"/>
                <a:cs typeface="Times New Roman" panose="02020603050405020304" pitchFamily="18" charset="0"/>
              </a:rPr>
              <a:t>.</a:t>
            </a:r>
          </a:p>
          <a:p>
            <a:pPr>
              <a:lnSpc>
                <a:spcPct val="150000"/>
              </a:lnSpc>
            </a:pPr>
            <a:r>
              <a:rPr lang="en-US" altLang="zh-CN" sz="2200" b="0" i="0" dirty="0" smtClean="0">
                <a:effectLst/>
                <a:latin typeface="Times New Roman" panose="02020603050405020304" pitchFamily="18" charset="0"/>
                <a:cs typeface="Times New Roman" panose="02020603050405020304" pitchFamily="18" charset="0"/>
              </a:rPr>
              <a:t> Two real‐world UDSs of different size (</a:t>
            </a:r>
            <a:r>
              <a:rPr lang="zh-CN" altLang="en-US" sz="2200" b="0" i="0" dirty="0" smtClean="0">
                <a:solidFill>
                  <a:srgbClr val="FF0000"/>
                </a:solidFill>
                <a:effectLst/>
                <a:latin typeface="Times New Roman" panose="02020603050405020304" pitchFamily="18" charset="0"/>
                <a:cs typeface="Times New Roman" panose="02020603050405020304" pitchFamily="18" charset="0"/>
              </a:rPr>
              <a:t>案例前置</a:t>
            </a:r>
            <a:r>
              <a:rPr lang="en-US" altLang="zh-CN" sz="2200" b="0" i="0" dirty="0" smtClean="0">
                <a:effectLst/>
                <a:latin typeface="Times New Roman" panose="02020603050405020304" pitchFamily="18" charset="0"/>
                <a:cs typeface="Times New Roman" panose="02020603050405020304" pitchFamily="18" charset="0"/>
              </a:rPr>
              <a:t>) </a:t>
            </a:r>
            <a:r>
              <a:rPr lang="en-US" altLang="zh-CN" sz="2200" b="0" i="0" dirty="0" smtClean="0">
                <a:solidFill>
                  <a:srgbClr val="FF0000"/>
                </a:solidFill>
                <a:effectLst/>
                <a:latin typeface="Times New Roman" panose="02020603050405020304" pitchFamily="18" charset="0"/>
                <a:cs typeface="Times New Roman" panose="02020603050405020304" pitchFamily="18" charset="0"/>
              </a:rPr>
              <a:t>are used to demonstrate the effectiveness of </a:t>
            </a:r>
            <a:r>
              <a:rPr lang="en-US" altLang="zh-CN" sz="2200" b="0" i="0" dirty="0" smtClean="0">
                <a:effectLst/>
                <a:latin typeface="Times New Roman" panose="02020603050405020304" pitchFamily="18" charset="0"/>
                <a:cs typeface="Times New Roman" panose="02020603050405020304" pitchFamily="18" charset="0"/>
              </a:rPr>
              <a:t>the PM</a:t>
            </a:r>
            <a:r>
              <a:rPr lang="zh-CN" altLang="en-US" sz="2200" b="0" i="0" dirty="0" smtClean="0">
                <a:effectLst/>
                <a:latin typeface="Times New Roman" panose="02020603050405020304" pitchFamily="18" charset="0"/>
                <a:cs typeface="Times New Roman" panose="02020603050405020304" pitchFamily="18" charset="0"/>
              </a:rPr>
              <a:t>（具有</a:t>
            </a:r>
            <a:r>
              <a:rPr lang="en-US" altLang="zh-CN" sz="2200" b="0" i="0" dirty="0" smtClean="0">
                <a:effectLst/>
                <a:latin typeface="Times New Roman" panose="02020603050405020304" pitchFamily="18" charset="0"/>
                <a:cs typeface="Times New Roman" panose="02020603050405020304" pitchFamily="18" charset="0"/>
              </a:rPr>
              <a:t>xx</a:t>
            </a:r>
            <a:r>
              <a:rPr lang="zh-CN" altLang="en-US" sz="2200" b="0" i="0" dirty="0" smtClean="0">
                <a:effectLst/>
                <a:latin typeface="Times New Roman" panose="02020603050405020304" pitchFamily="18" charset="0"/>
                <a:cs typeface="Times New Roman" panose="02020603050405020304" pitchFamily="18" charset="0"/>
              </a:rPr>
              <a:t>特征的案例被用于验证方法有用性）</a:t>
            </a:r>
            <a:endParaRPr lang="zh-CN"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0678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7462" y="259518"/>
            <a:ext cx="11809863" cy="6694140"/>
          </a:xfrm>
          <a:prstGeom prst="rect">
            <a:avLst/>
          </a:prstGeom>
        </p:spPr>
        <p:txBody>
          <a:bodyPr wrap="square">
            <a:spAutoFit/>
          </a:bodyPr>
          <a:lstStyle/>
          <a:p>
            <a:pPr indent="457200">
              <a:lnSpc>
                <a:spcPct val="150000"/>
              </a:lnSpc>
            </a:pPr>
            <a:r>
              <a:rPr lang="en-US" altLang="zh-CN" sz="2200" dirty="0">
                <a:latin typeface="Times New Roman" panose="02020603050405020304" pitchFamily="18" charset="0"/>
                <a:cs typeface="Times New Roman" panose="02020603050405020304" pitchFamily="18" charset="0"/>
              </a:rPr>
              <a:t>6</a:t>
            </a:r>
            <a:r>
              <a:rPr lang="zh-CN" altLang="en-US" sz="2200" dirty="0">
                <a:latin typeface="Times New Roman" panose="02020603050405020304" pitchFamily="18" charset="0"/>
                <a:cs typeface="Times New Roman" panose="02020603050405020304" pitchFamily="18" charset="0"/>
              </a:rPr>
              <a:t>、结果表明：</a:t>
            </a:r>
            <a:r>
              <a:rPr lang="en-US" altLang="zh-CN" sz="2200" dirty="0">
                <a:latin typeface="Times New Roman" panose="02020603050405020304" pitchFamily="18" charset="0"/>
                <a:cs typeface="Times New Roman" panose="02020603050405020304" pitchFamily="18" charset="0"/>
              </a:rPr>
              <a:t>(</a:t>
            </a:r>
            <a:r>
              <a:rPr lang="en-US" altLang="zh-CN" sz="2200" dirty="0" err="1">
                <a:latin typeface="Times New Roman" panose="02020603050405020304" pitchFamily="18" charset="0"/>
                <a:cs typeface="Times New Roman" panose="02020603050405020304" pitchFamily="18" charset="0"/>
              </a:rPr>
              <a:t>i</a:t>
            </a: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提出的 </a:t>
            </a:r>
            <a:r>
              <a:rPr lang="en-US" altLang="zh-CN" sz="2200" dirty="0">
                <a:latin typeface="Times New Roman" panose="02020603050405020304" pitchFamily="18" charset="0"/>
                <a:cs typeface="Times New Roman" panose="02020603050405020304" pitchFamily="18" charset="0"/>
              </a:rPr>
              <a:t>EBDM </a:t>
            </a:r>
            <a:r>
              <a:rPr lang="zh-CN" altLang="en-US" sz="2200" dirty="0">
                <a:latin typeface="Times New Roman" panose="02020603050405020304" pitchFamily="18" charset="0"/>
                <a:cs typeface="Times New Roman" panose="02020603050405020304" pitchFamily="18" charset="0"/>
              </a:rPr>
              <a:t>能有效生成接近最终优化解的高质量初始方案；</a:t>
            </a:r>
            <a:r>
              <a:rPr lang="en-US" altLang="zh-CN" sz="2200" dirty="0">
                <a:latin typeface="Times New Roman" panose="02020603050405020304" pitchFamily="18" charset="0"/>
                <a:cs typeface="Times New Roman" panose="02020603050405020304" pitchFamily="18" charset="0"/>
              </a:rPr>
              <a:t>(ii) </a:t>
            </a:r>
            <a:r>
              <a:rPr lang="zh-CN" altLang="en-US" sz="2200" dirty="0">
                <a:latin typeface="Times New Roman" panose="02020603050405020304" pitchFamily="18" charset="0"/>
                <a:cs typeface="Times New Roman" panose="02020603050405020304" pitchFamily="18" charset="0"/>
              </a:rPr>
              <a:t>最小化管道峰值水深变异度在实践中具有重要意义，因为它能帮助识别对未来不确定性（如降雨变异）具有更强适应能力的方案；</a:t>
            </a:r>
            <a:r>
              <a:rPr lang="en-US" altLang="zh-CN" sz="2200" dirty="0">
                <a:latin typeface="Times New Roman" panose="02020603050405020304" pitchFamily="18" charset="0"/>
                <a:cs typeface="Times New Roman" panose="02020603050405020304" pitchFamily="18" charset="0"/>
              </a:rPr>
              <a:t>(iii) </a:t>
            </a:r>
            <a:r>
              <a:rPr lang="zh-CN" altLang="en-US" sz="2200" dirty="0">
                <a:latin typeface="Times New Roman" panose="02020603050405020304" pitchFamily="18" charset="0"/>
                <a:cs typeface="Times New Roman" panose="02020603050405020304" pitchFamily="18" charset="0"/>
              </a:rPr>
              <a:t>与传统优化方法相比，</a:t>
            </a:r>
            <a:r>
              <a:rPr lang="en-US" altLang="zh-CN" sz="2200" dirty="0">
                <a:latin typeface="Times New Roman" panose="02020603050405020304" pitchFamily="18" charset="0"/>
                <a:cs typeface="Times New Roman" panose="02020603050405020304" pitchFamily="18" charset="0"/>
              </a:rPr>
              <a:t>PM </a:t>
            </a:r>
            <a:r>
              <a:rPr lang="zh-CN" altLang="en-US" sz="2200" dirty="0">
                <a:latin typeface="Times New Roman" panose="02020603050405020304" pitchFamily="18" charset="0"/>
                <a:cs typeface="Times New Roman" panose="02020603050405020304" pitchFamily="18" charset="0"/>
              </a:rPr>
              <a:t>在优化效率与方案可实施性上均显著提升，且随着系统规模的增大，优势更为</a:t>
            </a:r>
            <a:r>
              <a:rPr lang="zh-CN" altLang="en-US" sz="2200" dirty="0" smtClean="0">
                <a:latin typeface="Times New Roman" panose="02020603050405020304" pitchFamily="18" charset="0"/>
                <a:cs typeface="Times New Roman" panose="02020603050405020304" pitchFamily="18" charset="0"/>
              </a:rPr>
              <a:t>突出</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zh-CN" altLang="en-US" sz="2200" dirty="0" smtClean="0">
                <a:solidFill>
                  <a:srgbClr val="FF0000"/>
                </a:solidFill>
                <a:latin typeface="Times New Roman" panose="02020603050405020304" pitchFamily="18" charset="0"/>
                <a:cs typeface="Times New Roman" panose="02020603050405020304" pitchFamily="18" charset="0"/>
              </a:rPr>
              <a:t>写作要点：</a:t>
            </a:r>
            <a:r>
              <a:rPr lang="zh-CN" altLang="en-US" sz="2200" dirty="0" smtClean="0">
                <a:latin typeface="Times New Roman" panose="02020603050405020304" pitchFamily="18" charset="0"/>
                <a:cs typeface="Times New Roman" panose="02020603050405020304" pitchFamily="18" charset="0"/>
              </a:rPr>
              <a:t>主要</a:t>
            </a:r>
            <a:r>
              <a:rPr lang="zh-CN" altLang="en-US" sz="2200" dirty="0">
                <a:latin typeface="Times New Roman" panose="02020603050405020304" pitchFamily="18" charset="0"/>
                <a:cs typeface="Times New Roman" panose="02020603050405020304" pitchFamily="18" charset="0"/>
              </a:rPr>
              <a:t>论点</a:t>
            </a:r>
            <a:r>
              <a:rPr lang="en-US" altLang="zh-CN" sz="2200" dirty="0">
                <a:latin typeface="Times New Roman" panose="02020603050405020304" pitchFamily="18" charset="0"/>
                <a:cs typeface="Times New Roman" panose="02020603050405020304" pitchFamily="18" charset="0"/>
              </a:rPr>
              <a:t>/</a:t>
            </a:r>
            <a:r>
              <a:rPr lang="zh-CN" altLang="en-US" sz="2200" dirty="0" smtClean="0">
                <a:latin typeface="Times New Roman" panose="02020603050405020304" pitchFamily="18" charset="0"/>
                <a:cs typeface="Times New Roman" panose="02020603050405020304" pitchFamily="18" charset="0"/>
              </a:rPr>
              <a:t>贡献</a:t>
            </a:r>
            <a:r>
              <a:rPr lang="en-US" altLang="zh-CN" sz="2200" dirty="0" smtClean="0">
                <a:latin typeface="Times New Roman" panose="02020603050405020304" pitchFamily="18" charset="0"/>
                <a:cs typeface="Times New Roman" panose="02020603050405020304" pitchFamily="18" charset="0"/>
              </a:rPr>
              <a:t>-</a:t>
            </a:r>
            <a:r>
              <a:rPr lang="zh-CN" altLang="en-US" sz="2200" dirty="0">
                <a:latin typeface="Times New Roman" panose="02020603050405020304" pitchFamily="18" charset="0"/>
                <a:cs typeface="Times New Roman" panose="02020603050405020304" pitchFamily="18" charset="0"/>
              </a:rPr>
              <a:t>对应解决问题、实际贡献、方法</a:t>
            </a:r>
            <a:r>
              <a:rPr lang="zh-CN" altLang="en-US" sz="2200" dirty="0" smtClean="0">
                <a:latin typeface="Times New Roman" panose="02020603050405020304" pitchFamily="18" charset="0"/>
                <a:cs typeface="Times New Roman" panose="02020603050405020304" pitchFamily="18" charset="0"/>
              </a:rPr>
              <a:t>优点</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zh-CN" altLang="en-US" sz="2200" dirty="0" smtClean="0">
                <a:solidFill>
                  <a:srgbClr val="FF0000"/>
                </a:solidFill>
                <a:latin typeface="Times New Roman" panose="02020603050405020304" pitchFamily="18" charset="0"/>
                <a:cs typeface="Times New Roman" panose="02020603050405020304" pitchFamily="18" charset="0"/>
              </a:rPr>
              <a:t>小白错误</a:t>
            </a:r>
            <a:r>
              <a:rPr lang="zh-CN" altLang="en-US" sz="2200" dirty="0" smtClean="0">
                <a:latin typeface="Times New Roman" panose="02020603050405020304" pitchFamily="18" charset="0"/>
                <a:cs typeface="Times New Roman" panose="02020603050405020304" pitchFamily="18" charset="0"/>
              </a:rPr>
              <a:t>：</a:t>
            </a:r>
            <a:r>
              <a:rPr lang="en-US" altLang="zh-CN" sz="2200" dirty="0" smtClean="0">
                <a:latin typeface="Times New Roman" panose="02020603050405020304" pitchFamily="18" charset="0"/>
                <a:cs typeface="Times New Roman" panose="02020603050405020304" pitchFamily="18" charset="0"/>
              </a:rPr>
              <a:t>1</a:t>
            </a:r>
            <a:r>
              <a:rPr lang="zh-CN" altLang="en-US" sz="2200" dirty="0" smtClean="0">
                <a:latin typeface="Times New Roman" panose="02020603050405020304" pitchFamily="18" charset="0"/>
                <a:cs typeface="Times New Roman" panose="02020603050405020304" pitchFamily="18" charset="0"/>
              </a:rPr>
              <a:t>）只讲结果，不讲论点（可以没有数据，但一定要有论点）</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en-US" altLang="zh-CN" sz="2200" dirty="0" smtClean="0">
                <a:latin typeface="Times New Roman" panose="02020603050405020304" pitchFamily="18" charset="0"/>
                <a:cs typeface="Times New Roman" panose="02020603050405020304" pitchFamily="18" charset="0"/>
              </a:rPr>
              <a:t>2</a:t>
            </a:r>
            <a:r>
              <a:rPr lang="zh-CN" altLang="en-US" sz="2200" dirty="0" smtClean="0">
                <a:latin typeface="Times New Roman" panose="02020603050405020304" pitchFamily="18" charset="0"/>
                <a:cs typeface="Times New Roman" panose="02020603050405020304" pitchFamily="18" charset="0"/>
              </a:rPr>
              <a:t>）缺论点的实际意义的指向及理论价值补充；</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en-US" altLang="zh-CN" sz="2200" dirty="0" smtClean="0">
                <a:latin typeface="Times New Roman" panose="02020603050405020304" pitchFamily="18" charset="0"/>
                <a:cs typeface="Times New Roman" panose="02020603050405020304" pitchFamily="18" charset="0"/>
              </a:rPr>
              <a:t>3</a:t>
            </a:r>
            <a:r>
              <a:rPr lang="zh-CN" altLang="en-US" sz="2200" dirty="0" smtClean="0">
                <a:latin typeface="Times New Roman" panose="02020603050405020304" pitchFamily="18" charset="0"/>
                <a:cs typeface="Times New Roman" panose="02020603050405020304" pitchFamily="18" charset="0"/>
              </a:rPr>
              <a:t>）论点与前面的</a:t>
            </a:r>
            <a:r>
              <a:rPr lang="en-US" altLang="zh-CN" sz="2200" dirty="0" smtClean="0">
                <a:latin typeface="Times New Roman" panose="02020603050405020304" pitchFamily="18" charset="0"/>
                <a:cs typeface="Times New Roman" panose="02020603050405020304" pitchFamily="18" charset="0"/>
              </a:rPr>
              <a:t>gap</a:t>
            </a:r>
            <a:r>
              <a:rPr lang="zh-CN" altLang="en-US" sz="2200" dirty="0" smtClean="0">
                <a:latin typeface="Times New Roman" panose="02020603050405020304" pitchFamily="18" charset="0"/>
                <a:cs typeface="Times New Roman" panose="02020603050405020304" pitchFamily="18" charset="0"/>
              </a:rPr>
              <a:t>、创新点未对应</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zh-CN" altLang="en-US" sz="2200" dirty="0" smtClean="0">
                <a:latin typeface="Times New Roman" panose="02020603050405020304" pitchFamily="18" charset="0"/>
                <a:cs typeface="Times New Roman" panose="02020603050405020304" pitchFamily="18" charset="0"/>
              </a:rPr>
              <a:t>词句总结：</a:t>
            </a:r>
            <a:r>
              <a:rPr lang="en-US" altLang="zh-CN" sz="2200" b="0" i="0" dirty="0" smtClean="0">
                <a:effectLst/>
                <a:latin typeface="Times New Roman" panose="02020603050405020304" pitchFamily="18" charset="0"/>
                <a:cs typeface="Times New Roman" panose="02020603050405020304" pitchFamily="18" charset="0"/>
              </a:rPr>
              <a:t>Results show that (</a:t>
            </a:r>
            <a:r>
              <a:rPr lang="en-US" altLang="zh-CN" sz="2200" b="0" i="0" dirty="0" err="1" smtClean="0">
                <a:effectLst/>
                <a:latin typeface="Times New Roman" panose="02020603050405020304" pitchFamily="18" charset="0"/>
                <a:cs typeface="Times New Roman" panose="02020603050405020304" pitchFamily="18" charset="0"/>
              </a:rPr>
              <a:t>i</a:t>
            </a:r>
            <a:r>
              <a:rPr lang="en-US" altLang="zh-CN" sz="2200" b="0" i="0" dirty="0" smtClean="0">
                <a:effectLst/>
                <a:latin typeface="Times New Roman" panose="02020603050405020304" pitchFamily="18" charset="0"/>
                <a:cs typeface="Times New Roman" panose="02020603050405020304" pitchFamily="18" charset="0"/>
              </a:rPr>
              <a:t>) the proposed EBDM is effective in X (</a:t>
            </a:r>
            <a:r>
              <a:rPr lang="zh-CN" altLang="en-US" sz="2200" b="0" i="0" dirty="0" smtClean="0">
                <a:effectLst/>
                <a:latin typeface="Times New Roman" panose="02020603050405020304" pitchFamily="18" charset="0"/>
                <a:cs typeface="Times New Roman" panose="02020603050405020304" pitchFamily="18" charset="0"/>
              </a:rPr>
              <a:t>与</a:t>
            </a:r>
            <a:r>
              <a:rPr lang="en-US" altLang="zh-CN" sz="2200" b="0" i="0" dirty="0" smtClean="0">
                <a:effectLst/>
                <a:latin typeface="Times New Roman" panose="02020603050405020304" pitchFamily="18" charset="0"/>
                <a:cs typeface="Times New Roman" panose="02020603050405020304" pitchFamily="18" charset="0"/>
              </a:rPr>
              <a:t>gap</a:t>
            </a:r>
            <a:r>
              <a:rPr lang="zh-CN" altLang="en-US" sz="2200" dirty="0">
                <a:latin typeface="Times New Roman" panose="02020603050405020304" pitchFamily="18" charset="0"/>
                <a:cs typeface="Times New Roman" panose="02020603050405020304" pitchFamily="18" charset="0"/>
              </a:rPr>
              <a:t>对应</a:t>
            </a:r>
            <a:r>
              <a:rPr lang="en-US" altLang="zh-CN" sz="2200" b="0" i="0" dirty="0" smtClean="0">
                <a:effectLst/>
                <a:latin typeface="Times New Roman" panose="02020603050405020304" pitchFamily="18" charset="0"/>
                <a:cs typeface="Times New Roman" panose="02020603050405020304" pitchFamily="18" charset="0"/>
              </a:rPr>
              <a:t>),</a:t>
            </a:r>
          </a:p>
          <a:p>
            <a:pPr indent="457200">
              <a:lnSpc>
                <a:spcPct val="150000"/>
              </a:lnSpc>
            </a:pPr>
            <a:r>
              <a:rPr lang="en-US" altLang="zh-CN" sz="2200" b="0" i="0" dirty="0" smtClean="0">
                <a:effectLst/>
                <a:latin typeface="Times New Roman" panose="02020603050405020304" pitchFamily="18" charset="0"/>
                <a:cs typeface="Times New Roman" panose="02020603050405020304" pitchFamily="18" charset="0"/>
              </a:rPr>
              <a:t>(ii) X is practically meaningful as it can facilitate x(</a:t>
            </a:r>
            <a:r>
              <a:rPr lang="zh-CN" altLang="en-US" sz="2200" b="0" i="0" dirty="0" smtClean="0">
                <a:effectLst/>
                <a:latin typeface="Times New Roman" panose="02020603050405020304" pitchFamily="18" charset="0"/>
                <a:cs typeface="Times New Roman" panose="02020603050405020304" pitchFamily="18" charset="0"/>
              </a:rPr>
              <a:t>与创新点</a:t>
            </a:r>
            <a:r>
              <a:rPr lang="en-US" altLang="zh-CN" sz="2200" b="0" i="0" dirty="0" smtClean="0">
                <a:effectLst/>
                <a:latin typeface="Times New Roman" panose="02020603050405020304" pitchFamily="18" charset="0"/>
                <a:cs typeface="Times New Roman" panose="02020603050405020304" pitchFamily="18" charset="0"/>
              </a:rPr>
              <a:t>1</a:t>
            </a:r>
            <a:r>
              <a:rPr lang="zh-CN" altLang="en-US" sz="2200" b="0" i="0" dirty="0" smtClean="0">
                <a:effectLst/>
                <a:latin typeface="Times New Roman" panose="02020603050405020304" pitchFamily="18" charset="0"/>
                <a:cs typeface="Times New Roman" panose="02020603050405020304" pitchFamily="18" charset="0"/>
              </a:rPr>
              <a:t>对应</a:t>
            </a:r>
            <a:r>
              <a:rPr lang="en-US" altLang="zh-CN" sz="2200" b="0" i="0" dirty="0" smtClean="0">
                <a:effectLst/>
                <a:latin typeface="Times New Roman" panose="02020603050405020304" pitchFamily="18" charset="0"/>
                <a:cs typeface="Times New Roman" panose="02020603050405020304" pitchFamily="18" charset="0"/>
              </a:rPr>
              <a:t>)</a:t>
            </a:r>
            <a:r>
              <a:rPr lang="en-US" altLang="zh-CN" sz="2200" dirty="0" smtClean="0">
                <a:latin typeface="Times New Roman" panose="02020603050405020304" pitchFamily="18" charset="0"/>
                <a:cs typeface="Times New Roman" panose="02020603050405020304" pitchFamily="18" charset="0"/>
              </a:rPr>
              <a:t>.</a:t>
            </a:r>
            <a:endParaRPr lang="en-US" altLang="zh-CN" sz="2200" dirty="0">
              <a:latin typeface="Times New Roman" panose="02020603050405020304" pitchFamily="18" charset="0"/>
              <a:cs typeface="Times New Roman" panose="02020603050405020304" pitchFamily="18" charset="0"/>
            </a:endParaRPr>
          </a:p>
          <a:p>
            <a:pPr indent="457200">
              <a:lnSpc>
                <a:spcPct val="150000"/>
              </a:lnSpc>
            </a:pPr>
            <a:r>
              <a:rPr lang="en-US" altLang="zh-CN" sz="2200" b="0" i="0" dirty="0" smtClean="0">
                <a:effectLst/>
                <a:latin typeface="Times New Roman" panose="02020603050405020304" pitchFamily="18" charset="0"/>
                <a:cs typeface="Times New Roman" panose="02020603050405020304" pitchFamily="18" charset="0"/>
              </a:rPr>
              <a:t>(iii) the PM significantly improves optimization efficiency and solution practicality compared to the traditional optimization approach, with benefits being more prominent for larger UDSs</a:t>
            </a:r>
            <a:r>
              <a:rPr lang="zh-CN" altLang="en-US" sz="2200" b="0" i="0" dirty="0" smtClean="0">
                <a:effectLst/>
                <a:latin typeface="Times New Roman" panose="02020603050405020304" pitchFamily="18" charset="0"/>
                <a:cs typeface="Times New Roman" panose="02020603050405020304" pitchFamily="18" charset="0"/>
              </a:rPr>
              <a:t>（与创新点</a:t>
            </a:r>
            <a:r>
              <a:rPr lang="en-US" altLang="zh-CN" sz="2200" b="0" i="0" dirty="0" smtClean="0">
                <a:effectLst/>
                <a:latin typeface="Times New Roman" panose="02020603050405020304" pitchFamily="18" charset="0"/>
                <a:cs typeface="Times New Roman" panose="02020603050405020304" pitchFamily="18" charset="0"/>
              </a:rPr>
              <a:t>2</a:t>
            </a:r>
            <a:r>
              <a:rPr lang="zh-CN" altLang="en-US" sz="2200" b="0" i="0" dirty="0" smtClean="0">
                <a:effectLst/>
                <a:latin typeface="Times New Roman" panose="02020603050405020304" pitchFamily="18" charset="0"/>
                <a:cs typeface="Times New Roman" panose="02020603050405020304" pitchFamily="18" charset="0"/>
              </a:rPr>
              <a:t>对应）</a:t>
            </a:r>
            <a:endParaRPr lang="zh-CN" altLang="en-US" sz="22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882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1450"/>
            <a:ext cx="11771730" cy="7386638"/>
          </a:xfrm>
          <a:prstGeom prst="rect">
            <a:avLst/>
          </a:prstGeom>
        </p:spPr>
        <p:txBody>
          <a:bodyPr wrap="square">
            <a:spAutoFit/>
          </a:bodyPr>
          <a:lstStyle/>
          <a:p>
            <a:pPr>
              <a:lnSpc>
                <a:spcPct val="150000"/>
              </a:lnSpc>
            </a:pP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AI</a:t>
            </a:r>
            <a:r>
              <a:rPr lang="zh-CN" altLang="en-US" sz="2400" dirty="0">
                <a:latin typeface="Times New Roman" panose="02020603050405020304" pitchFamily="18" charset="0"/>
                <a:cs typeface="Times New Roman" panose="02020603050405020304" pitchFamily="18" charset="0"/>
              </a:rPr>
              <a:t>提示</a:t>
            </a:r>
            <a:r>
              <a:rPr lang="zh-CN" altLang="en-US" sz="2400" dirty="0" smtClean="0">
                <a:latin typeface="Times New Roman" panose="02020603050405020304" pitchFamily="18" charset="0"/>
                <a:cs typeface="Times New Roman" panose="02020603050405020304" pitchFamily="18" charset="0"/>
              </a:rPr>
              <a:t>词：</a:t>
            </a:r>
            <a:r>
              <a:rPr lang="en-US" altLang="zh-CN" sz="2400" dirty="0" smtClean="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仔细阅读我给的论文，模仿下面摘要的写作风格（尤其需要理解括号里的注释），改写论文摘要（注意：写作内容按我给你的论文</a:t>
            </a:r>
            <a:r>
              <a:rPr lang="en-US" altLang="zh-CN" sz="2400" dirty="0" smtClean="0">
                <a:latin typeface="Times New Roman" panose="02020603050405020304" pitchFamily="18" charset="0"/>
                <a:cs typeface="Times New Roman" panose="02020603050405020304" pitchFamily="18" charset="0"/>
              </a:rPr>
              <a:t>PDF</a:t>
            </a:r>
            <a:r>
              <a:rPr lang="zh-CN" altLang="en-US" sz="2400" dirty="0" smtClean="0">
                <a:latin typeface="Times New Roman" panose="02020603050405020304" pitchFamily="18" charset="0"/>
                <a:cs typeface="Times New Roman" panose="02020603050405020304" pitchFamily="18" charset="0"/>
              </a:rPr>
              <a:t>的内容）：</a:t>
            </a:r>
            <a:endParaRPr lang="en-US" altLang="zh-CN" sz="2400" dirty="0" smtClean="0">
              <a:latin typeface="Times New Roman" panose="02020603050405020304" pitchFamily="18" charset="0"/>
              <a:cs typeface="Times New Roman" panose="02020603050405020304" pitchFamily="18" charset="0"/>
            </a:endParaRPr>
          </a:p>
          <a:p>
            <a:pPr>
              <a:lnSpc>
                <a:spcPct val="150000"/>
              </a:lnSpc>
            </a:pPr>
            <a:r>
              <a:rPr lang="en-US" altLang="zh-CN" sz="1400" dirty="0">
                <a:latin typeface="Times New Roman" panose="02020603050405020304" pitchFamily="18" charset="0"/>
                <a:cs typeface="Times New Roman" panose="02020603050405020304" pitchFamily="18" charset="0"/>
              </a:rPr>
              <a:t>Improving the Effectiveness of </a:t>
            </a:r>
            <a:r>
              <a:rPr lang="en-US" altLang="zh-CN" sz="1400" dirty="0" err="1">
                <a:latin typeface="Times New Roman" panose="02020603050405020304" pitchFamily="18" charset="0"/>
                <a:cs typeface="Times New Roman" panose="02020603050405020304" pitchFamily="18" charset="0"/>
              </a:rPr>
              <a:t>Multiobjective</a:t>
            </a:r>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Optimization</a:t>
            </a:r>
            <a:r>
              <a:rPr lang="zh-CN" altLang="en-US" sz="1400" dirty="0" smtClean="0">
                <a:latin typeface="Times New Roman" panose="02020603050405020304" pitchFamily="18" charset="0"/>
                <a:cs typeface="Times New Roman" panose="02020603050405020304" pitchFamily="18" charset="0"/>
              </a:rPr>
              <a:t>（方法）</a:t>
            </a:r>
            <a:r>
              <a:rPr lang="en-US" altLang="zh-CN" sz="1400" dirty="0" smtClean="0">
                <a:latin typeface="Times New Roman" panose="02020603050405020304" pitchFamily="18" charset="0"/>
                <a:cs typeface="Times New Roman" panose="02020603050405020304" pitchFamily="18" charset="0"/>
              </a:rPr>
              <a:t> </a:t>
            </a:r>
            <a:r>
              <a:rPr lang="en-US" altLang="zh-CN" sz="1400" dirty="0">
                <a:latin typeface="Times New Roman" panose="02020603050405020304" pitchFamily="18" charset="0"/>
                <a:cs typeface="Times New Roman" panose="02020603050405020304" pitchFamily="18" charset="0"/>
              </a:rPr>
              <a:t>Design of Urban Drainage </a:t>
            </a:r>
            <a:r>
              <a:rPr lang="en-US" altLang="zh-CN" sz="1400" dirty="0" smtClean="0">
                <a:latin typeface="Times New Roman" panose="02020603050405020304" pitchFamily="18" charset="0"/>
                <a:cs typeface="Times New Roman" panose="02020603050405020304" pitchFamily="18" charset="0"/>
              </a:rPr>
              <a:t>Systems</a:t>
            </a:r>
            <a:r>
              <a:rPr lang="zh-CN" altLang="en-US" sz="1400" dirty="0" smtClean="0">
                <a:latin typeface="Times New Roman" panose="02020603050405020304" pitchFamily="18" charset="0"/>
                <a:cs typeface="Times New Roman" panose="02020603050405020304" pitchFamily="18" charset="0"/>
              </a:rPr>
              <a:t>（问题）</a:t>
            </a:r>
            <a:endParaRPr lang="en-US" altLang="zh-CN" sz="1400" dirty="0">
              <a:latin typeface="Times New Roman" panose="02020603050405020304" pitchFamily="18" charset="0"/>
              <a:cs typeface="Times New Roman" panose="02020603050405020304" pitchFamily="18" charset="0"/>
            </a:endParaRPr>
          </a:p>
          <a:p>
            <a:pPr>
              <a:lnSpc>
                <a:spcPct val="150000"/>
              </a:lnSpc>
            </a:pPr>
            <a:r>
              <a:rPr lang="en-US" altLang="zh-CN" sz="1400" b="0" i="0" dirty="0" smtClean="0">
                <a:effectLst/>
                <a:latin typeface="Times New Roman" panose="02020603050405020304" pitchFamily="18" charset="0"/>
                <a:cs typeface="Times New Roman" panose="02020603050405020304" pitchFamily="18" charset="0"/>
              </a:rPr>
              <a:t>Capacity of urban drainage systems can substantially influence flooding properties of urban catchments (</a:t>
            </a:r>
            <a:r>
              <a:rPr lang="zh-CN" altLang="en-US" sz="1400" b="0" i="0" dirty="0" smtClean="0">
                <a:effectLst/>
                <a:latin typeface="Times New Roman" panose="02020603050405020304" pitchFamily="18" charset="0"/>
                <a:cs typeface="Times New Roman" panose="02020603050405020304" pitchFamily="18" charset="0"/>
              </a:rPr>
              <a:t>问题背景</a:t>
            </a:r>
            <a:r>
              <a:rPr lang="en-US" altLang="zh-CN" sz="1400" b="0" i="0" dirty="0" smtClean="0">
                <a:effectLst/>
                <a:latin typeface="Times New Roman" panose="02020603050405020304" pitchFamily="18" charset="0"/>
                <a:cs typeface="Times New Roman" panose="02020603050405020304" pitchFamily="18" charset="0"/>
              </a:rPr>
              <a:t>). This motivates many studies to optimally design UDSs often using multi-objective evolutionary algorithms (MOEAs) as they can explore trade‐offs between conflicting objectives (e.g., cost vs. system reliability)</a:t>
            </a:r>
            <a:r>
              <a:rPr lang="zh-CN" altLang="en-US" sz="1400" b="0" i="0" dirty="0" smtClean="0">
                <a:effectLst/>
                <a:latin typeface="Times New Roman" panose="02020603050405020304" pitchFamily="18" charset="0"/>
                <a:cs typeface="Times New Roman" panose="02020603050405020304" pitchFamily="18" charset="0"/>
              </a:rPr>
              <a:t>（传统方法引入及优点说明）</a:t>
            </a:r>
            <a:r>
              <a:rPr lang="en-US" altLang="zh-CN" sz="1400" b="0" i="0" dirty="0" smtClean="0">
                <a:effectLst/>
                <a:latin typeface="Times New Roman" panose="02020603050405020304" pitchFamily="18" charset="0"/>
                <a:cs typeface="Times New Roman" panose="02020603050405020304" pitchFamily="18" charset="0"/>
              </a:rPr>
              <a:t>. However, MOEA‐based approaches are typically computationally demanding and their solutions are often practically unacceptable as engineering domain knowledge is often not explicitly considered</a:t>
            </a:r>
            <a:r>
              <a:rPr lang="zh-CN" altLang="en-US" sz="1400" b="0" i="0" dirty="0" smtClean="0">
                <a:effectLst/>
                <a:latin typeface="Times New Roman" panose="02020603050405020304" pitchFamily="18" charset="0"/>
                <a:cs typeface="Times New Roman" panose="02020603050405020304" pitchFamily="18" charset="0"/>
              </a:rPr>
              <a:t>（传统方法缺点说明</a:t>
            </a:r>
            <a:r>
              <a:rPr lang="en-US" altLang="zh-CN" sz="1400" b="0" i="0" dirty="0" smtClean="0">
                <a:effectLst/>
                <a:latin typeface="Times New Roman" panose="02020603050405020304" pitchFamily="18" charset="0"/>
                <a:cs typeface="Times New Roman" panose="02020603050405020304" pitchFamily="18" charset="0"/>
              </a:rPr>
              <a:t>-research gap/</a:t>
            </a:r>
            <a:r>
              <a:rPr lang="zh-CN" altLang="en-US" sz="1400" b="0" i="0" dirty="0" smtClean="0">
                <a:effectLst/>
                <a:latin typeface="Times New Roman" panose="02020603050405020304" pitchFamily="18" charset="0"/>
                <a:cs typeface="Times New Roman" panose="02020603050405020304" pitchFamily="18" charset="0"/>
              </a:rPr>
              <a:t>研究缺口确认）</a:t>
            </a:r>
            <a:r>
              <a:rPr lang="en-US" altLang="zh-CN" sz="1400" b="0" i="0" dirty="0" smtClean="0">
                <a:effectLst/>
                <a:latin typeface="Times New Roman" panose="02020603050405020304" pitchFamily="18" charset="0"/>
                <a:cs typeface="Times New Roman" panose="02020603050405020304" pitchFamily="18" charset="0"/>
              </a:rPr>
              <a:t>. To address these two issues, this paper proposes an efficient optimization framework for UDS design, where an engineering‐based design method (EBDM) is developed to generate approximate solutions to initialize the MOEA‘s search, thereby greatly enhancing the optimization efficiency</a:t>
            </a:r>
            <a:r>
              <a:rPr lang="zh-CN" altLang="en-US" sz="1400" b="0" i="0" dirty="0" smtClean="0">
                <a:effectLst/>
                <a:latin typeface="Times New Roman" panose="02020603050405020304" pitchFamily="18" charset="0"/>
                <a:cs typeface="Times New Roman" panose="02020603050405020304" pitchFamily="18" charset="0"/>
              </a:rPr>
              <a:t>（概述提出方法</a:t>
            </a:r>
            <a:r>
              <a:rPr lang="en-US" altLang="zh-CN" sz="1400" b="0" i="0" dirty="0" smtClean="0">
                <a:effectLst/>
                <a:latin typeface="Times New Roman" panose="02020603050405020304" pitchFamily="18" charset="0"/>
                <a:cs typeface="Times New Roman" panose="02020603050405020304" pitchFamily="18" charset="0"/>
              </a:rPr>
              <a:t>-</a:t>
            </a:r>
            <a:r>
              <a:rPr lang="zh-CN" altLang="en-US" sz="1400" b="0" i="0" dirty="0" smtClean="0">
                <a:effectLst/>
                <a:latin typeface="Times New Roman" panose="02020603050405020304" pitchFamily="18" charset="0"/>
                <a:cs typeface="Times New Roman" panose="02020603050405020304" pitchFamily="18" charset="0"/>
              </a:rPr>
              <a:t>解决问题，原理</a:t>
            </a:r>
            <a:r>
              <a:rPr lang="en-US" altLang="zh-CN" sz="1400" b="0" i="0" dirty="0" smtClean="0">
                <a:effectLst/>
                <a:latin typeface="Times New Roman" panose="02020603050405020304" pitchFamily="18" charset="0"/>
                <a:cs typeface="Times New Roman" panose="02020603050405020304" pitchFamily="18" charset="0"/>
              </a:rPr>
              <a:t>-</a:t>
            </a:r>
            <a:r>
              <a:rPr lang="zh-CN" altLang="en-US" sz="1400" b="0" i="0" dirty="0" smtClean="0">
                <a:effectLst/>
                <a:latin typeface="Times New Roman" panose="02020603050405020304" pitchFamily="18" charset="0"/>
                <a:cs typeface="Times New Roman" panose="02020603050405020304" pitchFamily="18" charset="0"/>
              </a:rPr>
              <a:t>目的）</a:t>
            </a:r>
            <a:r>
              <a:rPr lang="en-US" altLang="zh-CN" sz="1400" b="0" i="0" dirty="0" smtClean="0">
                <a:effectLst/>
                <a:latin typeface="Times New Roman" panose="02020603050405020304" pitchFamily="18" charset="0"/>
                <a:cs typeface="Times New Roman" panose="02020603050405020304" pitchFamily="18" charset="0"/>
              </a:rPr>
              <a:t>. To improve the solution practicality, two ideas have been implemented in the proposed optimization method (PM):(</a:t>
            </a:r>
            <a:r>
              <a:rPr lang="en-US" altLang="zh-CN" sz="1400" b="0" i="0" dirty="0" err="1" smtClean="0">
                <a:effectLst/>
                <a:latin typeface="Times New Roman" panose="02020603050405020304" pitchFamily="18" charset="0"/>
                <a:cs typeface="Times New Roman" panose="02020603050405020304" pitchFamily="18" charset="0"/>
              </a:rPr>
              <a:t>i</a:t>
            </a:r>
            <a:r>
              <a:rPr lang="en-US" altLang="zh-CN" sz="1400" b="0" i="0" dirty="0" smtClean="0">
                <a:effectLst/>
                <a:latin typeface="Times New Roman" panose="02020603050405020304" pitchFamily="18" charset="0"/>
                <a:cs typeface="Times New Roman" panose="02020603050405020304" pitchFamily="18" charset="0"/>
              </a:rPr>
              <a:t>)the variability of peak depths across pipes is minimized and (ii)a constraint is introduced to ensure that sizes of pipes in the downstream direction are no smaller than their corresponding upstream diameters</a:t>
            </a:r>
            <a:r>
              <a:rPr lang="zh-CN" altLang="en-US" sz="1400" b="0" i="0" dirty="0" smtClean="0">
                <a:effectLst/>
                <a:latin typeface="Times New Roman" panose="02020603050405020304" pitchFamily="18" charset="0"/>
                <a:cs typeface="Times New Roman" panose="02020603050405020304" pitchFamily="18" charset="0"/>
              </a:rPr>
              <a:t>（所提出方法原理</a:t>
            </a:r>
            <a:r>
              <a:rPr lang="en-US" altLang="zh-CN" sz="1400" b="0" i="0" dirty="0" smtClean="0">
                <a:effectLst/>
                <a:latin typeface="Times New Roman" panose="02020603050405020304" pitchFamily="18" charset="0"/>
                <a:cs typeface="Times New Roman" panose="02020603050405020304" pitchFamily="18" charset="0"/>
              </a:rPr>
              <a:t>/</a:t>
            </a:r>
            <a:r>
              <a:rPr lang="zh-CN" altLang="en-US" sz="1400" b="0" i="0" dirty="0" smtClean="0">
                <a:effectLst/>
                <a:latin typeface="Times New Roman" panose="02020603050405020304" pitchFamily="18" charset="0"/>
                <a:cs typeface="Times New Roman" panose="02020603050405020304" pitchFamily="18" charset="0"/>
              </a:rPr>
              <a:t>创新详细说明）</a:t>
            </a:r>
            <a:r>
              <a:rPr lang="en-US" altLang="zh-CN" sz="1400" b="0" i="0" dirty="0" smtClean="0">
                <a:effectLst/>
                <a:latin typeface="Times New Roman" panose="02020603050405020304" pitchFamily="18" charset="0"/>
                <a:cs typeface="Times New Roman" panose="02020603050405020304" pitchFamily="18" charset="0"/>
              </a:rPr>
              <a:t>. Two real‐world UDSs of different size are used to demonstrate the effectiveness of the PM</a:t>
            </a:r>
            <a:r>
              <a:rPr lang="zh-CN" altLang="en-US" sz="1400" b="0" i="0" dirty="0" smtClean="0">
                <a:effectLst/>
                <a:latin typeface="Times New Roman" panose="02020603050405020304" pitchFamily="18" charset="0"/>
                <a:cs typeface="Times New Roman" panose="02020603050405020304" pitchFamily="18" charset="0"/>
              </a:rPr>
              <a:t>（具有</a:t>
            </a:r>
            <a:r>
              <a:rPr lang="en-US" altLang="zh-CN" sz="1400" b="0" i="0" dirty="0" smtClean="0">
                <a:effectLst/>
                <a:latin typeface="Times New Roman" panose="02020603050405020304" pitchFamily="18" charset="0"/>
                <a:cs typeface="Times New Roman" panose="02020603050405020304" pitchFamily="18" charset="0"/>
              </a:rPr>
              <a:t>xx</a:t>
            </a:r>
            <a:r>
              <a:rPr lang="zh-CN" altLang="en-US" sz="1400" b="0" i="0" dirty="0" smtClean="0">
                <a:effectLst/>
                <a:latin typeface="Times New Roman" panose="02020603050405020304" pitchFamily="18" charset="0"/>
                <a:cs typeface="Times New Roman" panose="02020603050405020304" pitchFamily="18" charset="0"/>
              </a:rPr>
              <a:t>特征的案例被用于验证方法有用性）</a:t>
            </a:r>
            <a:r>
              <a:rPr lang="en-US" altLang="zh-CN" sz="1400" b="0" i="0" dirty="0" smtClean="0">
                <a:effectLst/>
                <a:latin typeface="Times New Roman" panose="02020603050405020304" pitchFamily="18" charset="0"/>
                <a:cs typeface="Times New Roman" panose="02020603050405020304" pitchFamily="18" charset="0"/>
              </a:rPr>
              <a:t>. Results show that (</a:t>
            </a:r>
            <a:r>
              <a:rPr lang="en-US" altLang="zh-CN" sz="1400" b="0" i="0" dirty="0" err="1" smtClean="0">
                <a:effectLst/>
                <a:latin typeface="Times New Roman" panose="02020603050405020304" pitchFamily="18" charset="0"/>
                <a:cs typeface="Times New Roman" panose="02020603050405020304" pitchFamily="18" charset="0"/>
              </a:rPr>
              <a:t>i</a:t>
            </a:r>
            <a:r>
              <a:rPr lang="en-US" altLang="zh-CN" sz="1400" b="0" i="0" dirty="0" smtClean="0">
                <a:effectLst/>
                <a:latin typeface="Times New Roman" panose="02020603050405020304" pitchFamily="18" charset="0"/>
                <a:cs typeface="Times New Roman" panose="02020603050405020304" pitchFamily="18" charset="0"/>
              </a:rPr>
              <a:t>)the proposed EBDM is effective in producing initial solutions that are very close to the final solutions identified by the optimization methods,(ii)the minimization of the variability of peak depths in pipes is practically meaningful as it can facilitate to identify solutions with great ability in handling future uncertainties (e.g., rainfall variability),and (iii)the PM significantly improves optimization efficiency and solution practicality compared to the traditional optimization approach, with benefits being more prominent for larger UDSs</a:t>
            </a:r>
            <a:r>
              <a:rPr lang="zh-CN" altLang="en-US" sz="1400" b="0" i="0" dirty="0" smtClean="0">
                <a:effectLst/>
                <a:latin typeface="Times New Roman" panose="02020603050405020304" pitchFamily="18" charset="0"/>
                <a:cs typeface="Times New Roman" panose="02020603050405020304" pitchFamily="18" charset="0"/>
              </a:rPr>
              <a:t>（主要论点</a:t>
            </a:r>
            <a:r>
              <a:rPr lang="en-US" altLang="zh-CN" sz="1400" b="0" i="0" dirty="0" smtClean="0">
                <a:effectLst/>
                <a:latin typeface="Times New Roman" panose="02020603050405020304" pitchFamily="18" charset="0"/>
                <a:cs typeface="Times New Roman" panose="02020603050405020304" pitchFamily="18" charset="0"/>
              </a:rPr>
              <a:t>/</a:t>
            </a:r>
            <a:r>
              <a:rPr lang="zh-CN" altLang="en-US" sz="1400" b="0" i="0" dirty="0" smtClean="0">
                <a:effectLst/>
                <a:latin typeface="Times New Roman" panose="02020603050405020304" pitchFamily="18" charset="0"/>
                <a:cs typeface="Times New Roman" panose="02020603050405020304" pitchFamily="18" charset="0"/>
              </a:rPr>
              <a:t>贡献概述，</a:t>
            </a:r>
            <a:r>
              <a:rPr lang="zh-CN" altLang="en-US" sz="1400" dirty="0" smtClean="0">
                <a:latin typeface="Times New Roman" panose="02020603050405020304" pitchFamily="18" charset="0"/>
                <a:cs typeface="Times New Roman" panose="02020603050405020304" pitchFamily="18" charset="0"/>
              </a:rPr>
              <a:t>主要论点</a:t>
            </a:r>
            <a:r>
              <a:rPr lang="en-US" altLang="zh-CN" sz="1400" dirty="0" smtClean="0">
                <a:latin typeface="Times New Roman" panose="02020603050405020304" pitchFamily="18" charset="0"/>
                <a:cs typeface="Times New Roman" panose="02020603050405020304" pitchFamily="18" charset="0"/>
              </a:rPr>
              <a:t>/</a:t>
            </a:r>
            <a:r>
              <a:rPr lang="zh-CN" altLang="en-US" sz="1400" dirty="0" smtClean="0">
                <a:latin typeface="Times New Roman" panose="02020603050405020304" pitchFamily="18" charset="0"/>
                <a:cs typeface="Times New Roman" panose="02020603050405020304" pitchFamily="18" charset="0"/>
              </a:rPr>
              <a:t>贡献</a:t>
            </a:r>
            <a:r>
              <a:rPr lang="en-US" altLang="zh-CN" sz="1400" dirty="0" smtClean="0">
                <a:latin typeface="Times New Roman" panose="02020603050405020304" pitchFamily="18" charset="0"/>
                <a:cs typeface="Times New Roman" panose="02020603050405020304" pitchFamily="18" charset="0"/>
              </a:rPr>
              <a:t>-</a:t>
            </a:r>
            <a:r>
              <a:rPr lang="zh-CN" altLang="en-US" sz="1400" dirty="0" smtClean="0">
                <a:latin typeface="Times New Roman" panose="02020603050405020304" pitchFamily="18" charset="0"/>
                <a:cs typeface="Times New Roman" panose="02020603050405020304" pitchFamily="18" charset="0"/>
              </a:rPr>
              <a:t>对应解决问题、实际贡献、方法优点</a:t>
            </a:r>
            <a:r>
              <a:rPr lang="zh-CN" altLang="en-US" sz="1400" b="0" i="0" dirty="0" smtClean="0">
                <a:effectLst/>
                <a:latin typeface="Times New Roman" panose="02020603050405020304" pitchFamily="18" charset="0"/>
                <a:cs typeface="Times New Roman" panose="02020603050405020304" pitchFamily="18" charset="0"/>
              </a:rPr>
              <a:t>）。</a:t>
            </a:r>
            <a:endParaRPr lang="en-US" altLang="zh-CN" sz="1400" b="0" i="0" dirty="0" smtClean="0">
              <a:effectLst/>
              <a:latin typeface="Times New Roman" panose="02020603050405020304" pitchFamily="18" charset="0"/>
              <a:cs typeface="Times New Roman" panose="02020603050405020304" pitchFamily="18" charset="0"/>
            </a:endParaRPr>
          </a:p>
          <a:p>
            <a:pPr>
              <a:lnSpc>
                <a:spcPct val="150000"/>
              </a:lnSpc>
            </a:pPr>
            <a:r>
              <a:rPr lang="en-US" altLang="zh-CN" sz="2400" dirty="0" smtClean="0">
                <a:latin typeface="Times New Roman" panose="02020603050405020304" pitchFamily="18" charset="0"/>
                <a:cs typeface="Times New Roman" panose="02020603050405020304" pitchFamily="18" charset="0"/>
              </a:rPr>
              <a:t>AI</a:t>
            </a:r>
            <a:r>
              <a:rPr lang="zh-CN" altLang="en-US" sz="2400" dirty="0" smtClean="0">
                <a:latin typeface="Times New Roman" panose="02020603050405020304" pitchFamily="18" charset="0"/>
                <a:cs typeface="Times New Roman" panose="02020603050405020304" pitchFamily="18" charset="0"/>
              </a:rPr>
              <a:t>提示词：</a:t>
            </a:r>
            <a:r>
              <a:rPr lang="en-US" altLang="zh-CN" sz="2400" dirty="0" smtClean="0">
                <a:latin typeface="Times New Roman" panose="02020603050405020304" pitchFamily="18" charset="0"/>
                <a:cs typeface="Times New Roman" panose="02020603050405020304" pitchFamily="18" charset="0"/>
              </a:rPr>
              <a:t>2</a:t>
            </a:r>
            <a:r>
              <a:rPr lang="zh-CN" altLang="en-US"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仔细阅读我给的</a:t>
            </a:r>
            <a:r>
              <a:rPr lang="en-US" altLang="zh-CN" sz="2400" dirty="0" err="1" smtClean="0">
                <a:latin typeface="Times New Roman" panose="02020603050405020304" pitchFamily="18" charset="0"/>
                <a:cs typeface="Times New Roman" panose="02020603050405020304" pitchFamily="18" charset="0"/>
              </a:rPr>
              <a:t>ppt</a:t>
            </a:r>
            <a:r>
              <a:rPr lang="zh-CN" altLang="en-US" sz="2400" dirty="0" smtClean="0">
                <a:latin typeface="Times New Roman" panose="02020603050405020304" pitchFamily="18" charset="0"/>
                <a:cs typeface="Times New Roman" panose="02020603050405020304" pitchFamily="18" charset="0"/>
              </a:rPr>
              <a:t>其中包括了如何写摘要，按里面的指导改写我的论文的摘要（见</a:t>
            </a:r>
            <a:r>
              <a:rPr lang="en-US" altLang="zh-CN" sz="2400" dirty="0" smtClean="0">
                <a:latin typeface="Times New Roman" panose="02020603050405020304" pitchFamily="18" charset="0"/>
                <a:cs typeface="Times New Roman" panose="02020603050405020304" pitchFamily="18" charset="0"/>
              </a:rPr>
              <a:t>PDF</a:t>
            </a:r>
            <a:r>
              <a:rPr lang="zh-CN" altLang="en-US" sz="2400" dirty="0" smtClean="0">
                <a:latin typeface="Times New Roman" panose="02020603050405020304" pitchFamily="18" charset="0"/>
                <a:cs typeface="Times New Roman" panose="02020603050405020304" pitchFamily="18" charset="0"/>
              </a:rPr>
              <a:t>或</a:t>
            </a:r>
            <a:r>
              <a:rPr lang="en-US" altLang="zh-CN" sz="2400" dirty="0" smtClean="0">
                <a:latin typeface="Times New Roman" panose="02020603050405020304" pitchFamily="18" charset="0"/>
                <a:cs typeface="Times New Roman" panose="02020603050405020304" pitchFamily="18" charset="0"/>
              </a:rPr>
              <a:t>word</a:t>
            </a:r>
            <a:r>
              <a:rPr lang="zh-CN" altLang="en-US" sz="2400" dirty="0" smtClean="0">
                <a:latin typeface="Times New Roman" panose="02020603050405020304" pitchFamily="18" charset="0"/>
                <a:cs typeface="Times New Roman" panose="02020603050405020304" pitchFamily="18" charset="0"/>
              </a:rPr>
              <a:t>文档，</a:t>
            </a:r>
            <a:r>
              <a:rPr lang="zh-CN" altLang="en-US" sz="2400" dirty="0" smtClean="0">
                <a:latin typeface="Times New Roman" panose="02020603050405020304" pitchFamily="18" charset="0"/>
                <a:cs typeface="Times New Roman" panose="02020603050405020304" pitchFamily="18" charset="0"/>
              </a:rPr>
              <a:t>注意：写作内容按我给你的论文</a:t>
            </a:r>
            <a:r>
              <a:rPr lang="en-US" altLang="zh-CN" sz="2400" dirty="0" smtClean="0">
                <a:latin typeface="Times New Roman" panose="02020603050405020304" pitchFamily="18" charset="0"/>
                <a:cs typeface="Times New Roman" panose="02020603050405020304" pitchFamily="18" charset="0"/>
              </a:rPr>
              <a:t>PDF</a:t>
            </a:r>
            <a:r>
              <a:rPr lang="zh-CN" altLang="en-US" sz="2400" dirty="0" smtClean="0">
                <a:latin typeface="Times New Roman" panose="02020603050405020304" pitchFamily="18" charset="0"/>
                <a:cs typeface="Times New Roman" panose="02020603050405020304" pitchFamily="18" charset="0"/>
              </a:rPr>
              <a:t>的内容</a:t>
            </a:r>
            <a:r>
              <a:rPr lang="zh-CN" altLang="en-US" sz="2400" dirty="0" smtClean="0">
                <a:latin typeface="Times New Roman" panose="02020603050405020304" pitchFamily="18" charset="0"/>
                <a:cs typeface="Times New Roman" panose="02020603050405020304" pitchFamily="18" charset="0"/>
              </a:rPr>
              <a:t>）</a:t>
            </a:r>
            <a:endParaRPr lang="en-US" altLang="zh-CN" sz="1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93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TotalTime>
  <Words>1565</Words>
  <Application>Microsoft Office PowerPoint</Application>
  <PresentationFormat>宽屏</PresentationFormat>
  <Paragraphs>49</Paragraphs>
  <Slides>8</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pc</dc:creator>
  <cp:lastModifiedBy>pc</cp:lastModifiedBy>
  <cp:revision>12</cp:revision>
  <dcterms:created xsi:type="dcterms:W3CDTF">2025-08-26T02:30:22Z</dcterms:created>
  <dcterms:modified xsi:type="dcterms:W3CDTF">2025-08-26T05:21:21Z</dcterms:modified>
</cp:coreProperties>
</file>